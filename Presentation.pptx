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image" Target="../media/image-14-10.png"/><Relationship Id="rId11" Type="http://schemas.openxmlformats.org/officeDocument/2006/relationships/image" Target="../media/image-14-11.png"/><Relationship Id="rId12" Type="http://schemas.openxmlformats.org/officeDocument/2006/relationships/slideLayout" Target="../slideLayouts/slideLayout1.xml"/><Relationship Id="rId1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4B"/>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28090"/>
          </a:solidFill>
          <a:ln w="12700">
            <a:solidFill>
              <a:srgbClr val="028090"/>
            </a:solidFill>
            <a:prstDash val="solid"/>
          </a:ln>
        </p:spPr>
      </p:sp>
      <p:sp>
        <p:nvSpPr>
          <p:cNvPr id="3" name="Shape 1"/>
          <p:cNvSpPr/>
          <p:nvPr/>
        </p:nvSpPr>
        <p:spPr>
          <a:xfrm>
            <a:off x="0" y="4942332"/>
            <a:ext cx="9144000" cy="201168"/>
          </a:xfrm>
          <a:prstGeom prst="rect">
            <a:avLst/>
          </a:prstGeom>
          <a:solidFill>
            <a:srgbClr val="028090"/>
          </a:solidFill>
          <a:ln w="12700">
            <a:solidFill>
              <a:srgbClr val="028090"/>
            </a:solidFill>
            <a:prstDash val="solid"/>
          </a:ln>
        </p:spPr>
      </p:sp>
      <p:pic>
        <p:nvPicPr>
          <p:cNvPr id="4" name="Image 0" descr="preencoded.png">    </p:cNvPr>
          <p:cNvPicPr>
            <a:picLocks noChangeAspect="1"/>
          </p:cNvPicPr>
          <p:nvPr/>
        </p:nvPicPr>
        <p:blipFill>
          <a:blip r:embed="rId1"/>
          <a:stretch>
            <a:fillRect/>
          </a:stretch>
        </p:blipFill>
        <p:spPr>
          <a:xfrm>
            <a:off x="4114800" y="320040"/>
            <a:ext cx="914400" cy="914400"/>
          </a:xfrm>
          <a:prstGeom prst="rect">
            <a:avLst/>
          </a:prstGeom>
        </p:spPr>
      </p:pic>
      <p:sp>
        <p:nvSpPr>
          <p:cNvPr id="5" name="Text 2"/>
          <p:cNvSpPr/>
          <p:nvPr/>
        </p:nvSpPr>
        <p:spPr>
          <a:xfrm>
            <a:off x="457200" y="1234440"/>
            <a:ext cx="8229600" cy="960120"/>
          </a:xfrm>
          <a:prstGeom prst="rect">
            <a:avLst/>
          </a:prstGeom>
          <a:noFill/>
          <a:ln/>
        </p:spPr>
        <p:txBody>
          <a:bodyPr wrap="square" rtlCol="0" anchor="ctr"/>
          <a:lstStyle/>
          <a:p>
            <a:pPr algn="ctr" indent="0" marL="0">
              <a:buNone/>
            </a:pPr>
            <a:r>
              <a:rPr lang="en-US" sz="5200" b="1" dirty="0">
                <a:solidFill>
                  <a:srgbClr val="CADCFC"/>
                </a:solidFill>
                <a:latin typeface="Calibri" pitchFamily="34" charset="0"/>
                <a:ea typeface="Calibri" pitchFamily="34" charset="-122"/>
                <a:cs typeface="Calibri" pitchFamily="34" charset="-120"/>
              </a:rPr>
              <a:t>EduOS</a:t>
            </a:r>
            <a:endParaRPr lang="en-US" sz="5200" dirty="0"/>
          </a:p>
        </p:txBody>
      </p:sp>
      <p:sp>
        <p:nvSpPr>
          <p:cNvPr id="6" name="Text 3"/>
          <p:cNvSpPr/>
          <p:nvPr/>
        </p:nvSpPr>
        <p:spPr>
          <a:xfrm>
            <a:off x="457200" y="2240280"/>
            <a:ext cx="8229600" cy="594360"/>
          </a:xfrm>
          <a:prstGeom prst="rect">
            <a:avLst/>
          </a:prstGeom>
          <a:noFill/>
          <a:ln/>
        </p:spPr>
        <p:txBody>
          <a:bodyPr wrap="square" rtlCol="0" anchor="ctr"/>
          <a:lstStyle/>
          <a:p>
            <a:pPr algn="ctr" indent="0" marL="0">
              <a:buNone/>
            </a:pPr>
            <a:r>
              <a:rPr lang="en-US" sz="1800" dirty="0">
                <a:solidFill>
                  <a:srgbClr val="FFFFFF"/>
                </a:solidFill>
                <a:latin typeface="Calibri" pitchFamily="34" charset="0"/>
                <a:ea typeface="Calibri" pitchFamily="34" charset="-122"/>
                <a:cs typeface="Calibri" pitchFamily="34" charset="-120"/>
              </a:rPr>
              <a:t>A Multi-Component Operating System Simulator</a:t>
            </a:r>
            <a:endParaRPr lang="en-US" sz="1800" dirty="0"/>
          </a:p>
        </p:txBody>
      </p:sp>
      <p:sp>
        <p:nvSpPr>
          <p:cNvPr id="7" name="Text 4"/>
          <p:cNvSpPr/>
          <p:nvPr/>
        </p:nvSpPr>
        <p:spPr>
          <a:xfrm>
            <a:off x="457200" y="2971800"/>
            <a:ext cx="8229600" cy="411480"/>
          </a:xfrm>
          <a:prstGeom prst="rect">
            <a:avLst/>
          </a:prstGeom>
          <a:noFill/>
          <a:ln/>
        </p:spPr>
        <p:txBody>
          <a:bodyPr wrap="square" rtlCol="0" anchor="ctr"/>
          <a:lstStyle/>
          <a:p>
            <a:pPr algn="ctr" indent="0" marL="0">
              <a:buNone/>
            </a:pPr>
            <a:r>
              <a:rPr lang="en-US" sz="1300" dirty="0">
                <a:solidFill>
                  <a:srgbClr val="CADCFC"/>
                </a:solidFill>
                <a:latin typeface="Calibri" pitchFamily="34" charset="0"/>
                <a:ea typeface="Calibri" pitchFamily="34" charset="-122"/>
                <a:cs typeface="Calibri" pitchFamily="34" charset="-120"/>
              </a:rPr>
              <a:t>Module: 351 CS 2104 — Operating Systems  |  Semester III</a:t>
            </a:r>
            <a:endParaRPr lang="en-US" sz="1300" dirty="0"/>
          </a:p>
        </p:txBody>
      </p:sp>
      <p:sp>
        <p:nvSpPr>
          <p:cNvPr id="8" name="Text 5"/>
          <p:cNvSpPr/>
          <p:nvPr/>
        </p:nvSpPr>
        <p:spPr>
          <a:xfrm>
            <a:off x="457200" y="3520440"/>
            <a:ext cx="8229600" cy="365760"/>
          </a:xfrm>
          <a:prstGeom prst="rect">
            <a:avLst/>
          </a:prstGeom>
          <a:noFill/>
          <a:ln/>
        </p:spPr>
        <p:txBody>
          <a:bodyPr wrap="square"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Processes • Threads • IPC • Scheduling • Integration</a:t>
            </a:r>
            <a:endParaRPr lang="en-US" sz="1200" dirty="0"/>
          </a:p>
        </p:txBody>
      </p:sp>
      <p:sp>
        <p:nvSpPr>
          <p:cNvPr id="9" name="Text 6"/>
          <p:cNvSpPr/>
          <p:nvPr/>
        </p:nvSpPr>
        <p:spPr>
          <a:xfrm>
            <a:off x="457200" y="4640580"/>
            <a:ext cx="8229600" cy="320040"/>
          </a:xfrm>
          <a:prstGeom prst="rect">
            <a:avLst/>
          </a:prstGeom>
          <a:noFill/>
          <a:ln/>
        </p:spPr>
        <p:txBody>
          <a:bodyPr wrap="square" rtlCol="0" anchor="ctr"/>
          <a:lstStyle/>
          <a:p>
            <a:pPr algn="ctr" indent="0" marL="0">
              <a:buNone/>
            </a:pPr>
            <a:r>
              <a:rPr lang="en-US" sz="1100" dirty="0">
                <a:solidFill>
                  <a:srgbClr val="E8EEF7"/>
                </a:solidFill>
                <a:latin typeface="Calibri" pitchFamily="34" charset="0"/>
                <a:ea typeface="Calibri" pitchFamily="34" charset="-122"/>
                <a:cs typeface="Calibri" pitchFamily="34" charset="-120"/>
              </a:rPr>
              <a:t>Department of CS &amp; IT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w="12700">
            <a:solidFill>
              <a:srgbClr val="1E2761"/>
            </a:solidFill>
            <a:prstDash val="solid"/>
          </a:ln>
        </p:spPr>
      </p:sp>
      <p:sp>
        <p:nvSpPr>
          <p:cNvPr id="3" name="Text 1"/>
          <p:cNvSpPr/>
          <p:nvPr/>
        </p:nvSpPr>
        <p:spPr>
          <a:xfrm>
            <a:off x="365760" y="0"/>
            <a:ext cx="8412480" cy="77724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Abstract</a:t>
            </a:r>
            <a:endParaRPr lang="en-US" sz="2200" dirty="0"/>
          </a:p>
        </p:txBody>
      </p:sp>
      <p:sp>
        <p:nvSpPr>
          <p:cNvPr id="4" name="Text 2"/>
          <p:cNvSpPr/>
          <p:nvPr/>
        </p:nvSpPr>
        <p:spPr>
          <a:xfrm>
            <a:off x="457200" y="960120"/>
            <a:ext cx="8229600" cy="3749040"/>
          </a:xfrm>
          <a:prstGeom prst="rect">
            <a:avLst/>
          </a:prstGeom>
          <a:noFill/>
          <a:ln/>
        </p:spPr>
        <p:txBody>
          <a:bodyPr wrap="square" rtlCol="0" anchor="t"/>
          <a:lstStyle/>
          <a:p>
            <a:pPr indent="0" marL="0">
              <a:spcAft>
                <a:spcPts val="600"/>
              </a:spcAft>
              <a:buNone/>
            </a:pPr>
            <a:r>
              <a:rPr lang="en-US" sz="1450" dirty="0">
                <a:solidFill>
                  <a:srgbClr val="1E293B"/>
                </a:solidFill>
                <a:latin typeface="Calibri" pitchFamily="34" charset="0"/>
                <a:ea typeface="Calibri" pitchFamily="34" charset="-122"/>
                <a:cs typeface="Calibri" pitchFamily="34" charset="-120"/>
              </a:rPr>
              <a:t>EduOS is a two-language OS simulator built in C and Python that brings core operating-system concepts to life through working code. The C core implements a Process Control Block table, system-call analogues (edu_fork, edu_exec, edu_wait, edu_exit), a POSIX thread pool, Many-to-One and One-to-One threading models, race-condition demonstrations, and two IPC mechanisms (shared memory + anonymous pipe). The Python layer adds four scheduling algorithms — FCFS, SJF, Priority with ageing, and Round Robin — complete with Gantt charts and metric analysis. A controller bridges both layers end-to-end via subprocess pipes. Building EduOS deepened understanding of synchronisation, memory management, process lifecycle, and the practical tradeoffs between scheduling algorithms.</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w="12700">
            <a:solidFill>
              <a:srgbClr val="1E2761"/>
            </a:solidFill>
            <a:prstDash val="solid"/>
          </a:ln>
        </p:spPr>
      </p:sp>
      <p:sp>
        <p:nvSpPr>
          <p:cNvPr id="3" name="Text 1"/>
          <p:cNvSpPr/>
          <p:nvPr/>
        </p:nvSpPr>
        <p:spPr>
          <a:xfrm>
            <a:off x="365760" y="0"/>
            <a:ext cx="8412480" cy="77724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Design Decisions</a:t>
            </a:r>
            <a:endParaRPr lang="en-US" sz="2200" dirty="0"/>
          </a:p>
        </p:txBody>
      </p:sp>
      <p:sp>
        <p:nvSpPr>
          <p:cNvPr id="4" name="Shape 2"/>
          <p:cNvSpPr/>
          <p:nvPr/>
        </p:nvSpPr>
        <p:spPr>
          <a:xfrm>
            <a:off x="274320" y="960120"/>
            <a:ext cx="4206240" cy="1783080"/>
          </a:xfrm>
          <a:prstGeom prst="rect">
            <a:avLst/>
          </a:prstGeom>
          <a:solidFill>
            <a:srgbClr val="FFFFFF"/>
          </a:solidFill>
          <a:ln w="12700">
            <a:solidFill>
              <a:srgbClr val="E8EEF7"/>
            </a:solidFill>
            <a:prstDash val="solid"/>
          </a:ln>
          <a:effectLst>
            <a:outerShdw sx="100000" sy="100000" kx="0" ky="0" algn="bl" rotWithShape="0" blurRad="101600" dist="38100" dir="8100000">
              <a:srgbClr val="000000">
                <a:alpha val="18000"/>
              </a:srgbClr>
            </a:outerShdw>
          </a:effectLst>
        </p:spPr>
      </p:sp>
      <p:sp>
        <p:nvSpPr>
          <p:cNvPr id="5" name="Shape 3"/>
          <p:cNvSpPr/>
          <p:nvPr/>
        </p:nvSpPr>
        <p:spPr>
          <a:xfrm>
            <a:off x="274320" y="960120"/>
            <a:ext cx="54864" cy="1783080"/>
          </a:xfrm>
          <a:prstGeom prst="rect">
            <a:avLst/>
          </a:prstGeom>
          <a:solidFill>
            <a:srgbClr val="028090"/>
          </a:solidFill>
          <a:ln w="12700">
            <a:solidFill>
              <a:srgbClr val="028090"/>
            </a:solidFill>
            <a:prstDash val="solid"/>
          </a:ln>
        </p:spPr>
      </p:sp>
      <p:pic>
        <p:nvPicPr>
          <p:cNvPr id="6" name="Image 0" descr="preencoded.png">    </p:cNvPr>
          <p:cNvPicPr>
            <a:picLocks noChangeAspect="1"/>
          </p:cNvPicPr>
          <p:nvPr/>
        </p:nvPicPr>
        <p:blipFill>
          <a:blip r:embed="rId1"/>
          <a:stretch>
            <a:fillRect/>
          </a:stretch>
        </p:blipFill>
        <p:spPr>
          <a:xfrm>
            <a:off x="438912" y="1143000"/>
            <a:ext cx="411480" cy="411480"/>
          </a:xfrm>
          <a:prstGeom prst="rect">
            <a:avLst/>
          </a:prstGeom>
        </p:spPr>
      </p:pic>
      <p:sp>
        <p:nvSpPr>
          <p:cNvPr id="7" name="Text 4"/>
          <p:cNvSpPr/>
          <p:nvPr/>
        </p:nvSpPr>
        <p:spPr>
          <a:xfrm>
            <a:off x="960120" y="1124712"/>
            <a:ext cx="3383280" cy="41148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PCB as a flat C struct</a:t>
            </a:r>
            <a:endParaRPr lang="en-US" sz="1300" dirty="0"/>
          </a:p>
        </p:txBody>
      </p:sp>
      <p:sp>
        <p:nvSpPr>
          <p:cNvPr id="8" name="Text 5"/>
          <p:cNvSpPr/>
          <p:nvPr/>
        </p:nvSpPr>
        <p:spPr>
          <a:xfrm>
            <a:off x="438912" y="1618488"/>
            <a:ext cx="3886200" cy="1005840"/>
          </a:xfrm>
          <a:prstGeom prst="rect">
            <a:avLst/>
          </a:prstGeom>
          <a:noFill/>
          <a:ln/>
        </p:spPr>
        <p:txBody>
          <a:bodyPr wrap="square" rtlCol="0" anchor="t"/>
          <a:lstStyle/>
          <a:p>
            <a:pPr indent="0" marL="0">
              <a:buNone/>
            </a:pPr>
            <a:r>
              <a:rPr lang="en-US" sz="1150" dirty="0">
                <a:solidFill>
                  <a:srgbClr val="334155"/>
                </a:solidFill>
                <a:latin typeface="Calibri" pitchFamily="34" charset="0"/>
                <a:ea typeface="Calibri" pitchFamily="34" charset="-122"/>
                <a:cs typeface="Calibri" pitchFamily="34" charset="-120"/>
              </a:rPr>
              <a:t>O(1) lookup by index; matches real kernel layout (task_struct). Chosen over linked list for cache locality.</a:t>
            </a:r>
            <a:endParaRPr lang="en-US" sz="1150" dirty="0"/>
          </a:p>
        </p:txBody>
      </p:sp>
      <p:sp>
        <p:nvSpPr>
          <p:cNvPr id="9" name="Shape 6"/>
          <p:cNvSpPr/>
          <p:nvPr/>
        </p:nvSpPr>
        <p:spPr>
          <a:xfrm>
            <a:off x="4709160" y="960120"/>
            <a:ext cx="4206240" cy="1783080"/>
          </a:xfrm>
          <a:prstGeom prst="rect">
            <a:avLst/>
          </a:prstGeom>
          <a:solidFill>
            <a:srgbClr val="FFFFFF"/>
          </a:solidFill>
          <a:ln w="12700">
            <a:solidFill>
              <a:srgbClr val="E8EEF7"/>
            </a:solidFill>
            <a:prstDash val="solid"/>
          </a:ln>
          <a:effectLst>
            <a:outerShdw sx="100000" sy="100000" kx="0" ky="0" algn="bl" rotWithShape="0" blurRad="101600" dist="38100" dir="8100000">
              <a:srgbClr val="000000">
                <a:alpha val="18000"/>
              </a:srgbClr>
            </a:outerShdw>
          </a:effectLst>
        </p:spPr>
      </p:sp>
      <p:sp>
        <p:nvSpPr>
          <p:cNvPr id="10" name="Shape 7"/>
          <p:cNvSpPr/>
          <p:nvPr/>
        </p:nvSpPr>
        <p:spPr>
          <a:xfrm>
            <a:off x="4709160" y="960120"/>
            <a:ext cx="54864" cy="1783080"/>
          </a:xfrm>
          <a:prstGeom prst="rect">
            <a:avLst/>
          </a:prstGeom>
          <a:solidFill>
            <a:srgbClr val="028090"/>
          </a:solidFill>
          <a:ln w="12700">
            <a:solidFill>
              <a:srgbClr val="028090"/>
            </a:solidFill>
            <a:prstDash val="solid"/>
          </a:ln>
        </p:spPr>
      </p:sp>
      <p:pic>
        <p:nvPicPr>
          <p:cNvPr id="11" name="Image 1" descr="preencoded.png">    </p:cNvPr>
          <p:cNvPicPr>
            <a:picLocks noChangeAspect="1"/>
          </p:cNvPicPr>
          <p:nvPr/>
        </p:nvPicPr>
        <p:blipFill>
          <a:blip r:embed="rId2"/>
          <a:stretch>
            <a:fillRect/>
          </a:stretch>
        </p:blipFill>
        <p:spPr>
          <a:xfrm>
            <a:off x="4873752" y="1143000"/>
            <a:ext cx="411480" cy="411480"/>
          </a:xfrm>
          <a:prstGeom prst="rect">
            <a:avLst/>
          </a:prstGeom>
        </p:spPr>
      </p:pic>
      <p:sp>
        <p:nvSpPr>
          <p:cNvPr id="12" name="Text 8"/>
          <p:cNvSpPr/>
          <p:nvPr/>
        </p:nvSpPr>
        <p:spPr>
          <a:xfrm>
            <a:off x="5394960" y="1124712"/>
            <a:ext cx="3383280" cy="41148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POSIX Shared Memory over Message Queues</a:t>
            </a:r>
            <a:endParaRPr lang="en-US" sz="1300" dirty="0"/>
          </a:p>
        </p:txBody>
      </p:sp>
      <p:sp>
        <p:nvSpPr>
          <p:cNvPr id="13" name="Text 9"/>
          <p:cNvSpPr/>
          <p:nvPr/>
        </p:nvSpPr>
        <p:spPr>
          <a:xfrm>
            <a:off x="4873752" y="1618488"/>
            <a:ext cx="3886200" cy="1005840"/>
          </a:xfrm>
          <a:prstGeom prst="rect">
            <a:avLst/>
          </a:prstGeom>
          <a:noFill/>
          <a:ln/>
        </p:spPr>
        <p:txBody>
          <a:bodyPr wrap="square" rtlCol="0" anchor="t"/>
          <a:lstStyle/>
          <a:p>
            <a:pPr indent="0" marL="0">
              <a:buNone/>
            </a:pPr>
            <a:r>
              <a:rPr lang="en-US" sz="1150" dirty="0">
                <a:solidFill>
                  <a:srgbClr val="334155"/>
                </a:solidFill>
                <a:latin typeface="Calibri" pitchFamily="34" charset="0"/>
                <a:ea typeface="Calibri" pitchFamily="34" charset="-122"/>
                <a:cs typeface="Calibri" pitchFamily="34" charset="-120"/>
              </a:rPr>
              <a:t>shm_open + mmap gives zero-copy data sharing. Message queues add serialisation overhead; SHM is faster for metrics.</a:t>
            </a:r>
            <a:endParaRPr lang="en-US" sz="1150" dirty="0"/>
          </a:p>
        </p:txBody>
      </p:sp>
      <p:sp>
        <p:nvSpPr>
          <p:cNvPr id="14" name="Shape 10"/>
          <p:cNvSpPr/>
          <p:nvPr/>
        </p:nvSpPr>
        <p:spPr>
          <a:xfrm>
            <a:off x="274320" y="2926080"/>
            <a:ext cx="4206240" cy="1783080"/>
          </a:xfrm>
          <a:prstGeom prst="rect">
            <a:avLst/>
          </a:prstGeom>
          <a:solidFill>
            <a:srgbClr val="FFFFFF"/>
          </a:solidFill>
          <a:ln w="12700">
            <a:solidFill>
              <a:srgbClr val="E8EEF7"/>
            </a:solidFill>
            <a:prstDash val="solid"/>
          </a:ln>
          <a:effectLst>
            <a:outerShdw sx="100000" sy="100000" kx="0" ky="0" algn="bl" rotWithShape="0" blurRad="101600" dist="38100" dir="8100000">
              <a:srgbClr val="000000">
                <a:alpha val="18000"/>
              </a:srgbClr>
            </a:outerShdw>
          </a:effectLst>
        </p:spPr>
      </p:sp>
      <p:sp>
        <p:nvSpPr>
          <p:cNvPr id="15" name="Shape 11"/>
          <p:cNvSpPr/>
          <p:nvPr/>
        </p:nvSpPr>
        <p:spPr>
          <a:xfrm>
            <a:off x="274320" y="2926080"/>
            <a:ext cx="54864" cy="1783080"/>
          </a:xfrm>
          <a:prstGeom prst="rect">
            <a:avLst/>
          </a:prstGeom>
          <a:solidFill>
            <a:srgbClr val="028090"/>
          </a:solidFill>
          <a:ln w="12700">
            <a:solidFill>
              <a:srgbClr val="028090"/>
            </a:solidFill>
            <a:prstDash val="solid"/>
          </a:ln>
        </p:spPr>
      </p:sp>
      <p:pic>
        <p:nvPicPr>
          <p:cNvPr id="16" name="Image 2" descr="preencoded.png">    </p:cNvPr>
          <p:cNvPicPr>
            <a:picLocks noChangeAspect="1"/>
          </p:cNvPicPr>
          <p:nvPr/>
        </p:nvPicPr>
        <p:blipFill>
          <a:blip r:embed="rId3"/>
          <a:stretch>
            <a:fillRect/>
          </a:stretch>
        </p:blipFill>
        <p:spPr>
          <a:xfrm>
            <a:off x="438912" y="3108960"/>
            <a:ext cx="411480" cy="411480"/>
          </a:xfrm>
          <a:prstGeom prst="rect">
            <a:avLst/>
          </a:prstGeom>
        </p:spPr>
      </p:pic>
      <p:sp>
        <p:nvSpPr>
          <p:cNvPr id="17" name="Text 12"/>
          <p:cNvSpPr/>
          <p:nvPr/>
        </p:nvSpPr>
        <p:spPr>
          <a:xfrm>
            <a:off x="960120" y="3090672"/>
            <a:ext cx="3383280" cy="41148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Condvar + Mutex Thread Pool</a:t>
            </a:r>
            <a:endParaRPr lang="en-US" sz="1300" dirty="0"/>
          </a:p>
        </p:txBody>
      </p:sp>
      <p:sp>
        <p:nvSpPr>
          <p:cNvPr id="18" name="Text 13"/>
          <p:cNvSpPr/>
          <p:nvPr/>
        </p:nvSpPr>
        <p:spPr>
          <a:xfrm>
            <a:off x="438912" y="3584448"/>
            <a:ext cx="3886200" cy="1005840"/>
          </a:xfrm>
          <a:prstGeom prst="rect">
            <a:avLst/>
          </a:prstGeom>
          <a:noFill/>
          <a:ln/>
        </p:spPr>
        <p:txBody>
          <a:bodyPr wrap="square" rtlCol="0" anchor="t"/>
          <a:lstStyle/>
          <a:p>
            <a:pPr indent="0" marL="0">
              <a:buNone/>
            </a:pPr>
            <a:r>
              <a:rPr lang="en-US" sz="1150" dirty="0">
                <a:solidFill>
                  <a:srgbClr val="334155"/>
                </a:solidFill>
                <a:latin typeface="Calibri" pitchFamily="34" charset="0"/>
                <a:ea typeface="Calibri" pitchFamily="34" charset="-122"/>
                <a:cs typeface="Calibri" pitchFamily="34" charset="-120"/>
              </a:rPr>
              <a:t>Blocking workers on condvar avoids busy-spin. Graceful shutdown drains the queue before joining — prevents data loss.</a:t>
            </a:r>
            <a:endParaRPr lang="en-US" sz="1150" dirty="0"/>
          </a:p>
        </p:txBody>
      </p:sp>
      <p:sp>
        <p:nvSpPr>
          <p:cNvPr id="19" name="Shape 14"/>
          <p:cNvSpPr/>
          <p:nvPr/>
        </p:nvSpPr>
        <p:spPr>
          <a:xfrm>
            <a:off x="4709160" y="2926080"/>
            <a:ext cx="4206240" cy="1783080"/>
          </a:xfrm>
          <a:prstGeom prst="rect">
            <a:avLst/>
          </a:prstGeom>
          <a:solidFill>
            <a:srgbClr val="FFFFFF"/>
          </a:solidFill>
          <a:ln w="12700">
            <a:solidFill>
              <a:srgbClr val="E8EEF7"/>
            </a:solidFill>
            <a:prstDash val="solid"/>
          </a:ln>
          <a:effectLst>
            <a:outerShdw sx="100000" sy="100000" kx="0" ky="0" algn="bl" rotWithShape="0" blurRad="101600" dist="38100" dir="8100000">
              <a:srgbClr val="000000">
                <a:alpha val="18000"/>
              </a:srgbClr>
            </a:outerShdw>
          </a:effectLst>
        </p:spPr>
      </p:sp>
      <p:sp>
        <p:nvSpPr>
          <p:cNvPr id="20" name="Shape 15"/>
          <p:cNvSpPr/>
          <p:nvPr/>
        </p:nvSpPr>
        <p:spPr>
          <a:xfrm>
            <a:off x="4709160" y="2926080"/>
            <a:ext cx="54864" cy="1783080"/>
          </a:xfrm>
          <a:prstGeom prst="rect">
            <a:avLst/>
          </a:prstGeom>
          <a:solidFill>
            <a:srgbClr val="F59E0B"/>
          </a:solidFill>
          <a:ln w="12700">
            <a:solidFill>
              <a:srgbClr val="F59E0B"/>
            </a:solidFill>
            <a:prstDash val="solid"/>
          </a:ln>
        </p:spPr>
      </p:sp>
      <p:pic>
        <p:nvPicPr>
          <p:cNvPr id="21" name="Image 3" descr="preencoded.png">    </p:cNvPr>
          <p:cNvPicPr>
            <a:picLocks noChangeAspect="1"/>
          </p:cNvPicPr>
          <p:nvPr/>
        </p:nvPicPr>
        <p:blipFill>
          <a:blip r:embed="rId4"/>
          <a:stretch>
            <a:fillRect/>
          </a:stretch>
        </p:blipFill>
        <p:spPr>
          <a:xfrm>
            <a:off x="4873752" y="3108960"/>
            <a:ext cx="411480" cy="411480"/>
          </a:xfrm>
          <a:prstGeom prst="rect">
            <a:avLst/>
          </a:prstGeom>
        </p:spPr>
      </p:pic>
      <p:sp>
        <p:nvSpPr>
          <p:cNvPr id="22" name="Text 16"/>
          <p:cNvSpPr/>
          <p:nvPr/>
        </p:nvSpPr>
        <p:spPr>
          <a:xfrm>
            <a:off x="5394960" y="3090672"/>
            <a:ext cx="3383280" cy="41148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JSON Serialiser written in C</a:t>
            </a:r>
            <a:endParaRPr lang="en-US" sz="1300" dirty="0"/>
          </a:p>
        </p:txBody>
      </p:sp>
      <p:sp>
        <p:nvSpPr>
          <p:cNvPr id="23" name="Text 17"/>
          <p:cNvSpPr/>
          <p:nvPr/>
        </p:nvSpPr>
        <p:spPr>
          <a:xfrm>
            <a:off x="4873752" y="3584448"/>
            <a:ext cx="3886200" cy="1005840"/>
          </a:xfrm>
          <a:prstGeom prst="rect">
            <a:avLst/>
          </a:prstGeom>
          <a:noFill/>
          <a:ln/>
        </p:spPr>
        <p:txBody>
          <a:bodyPr wrap="square" rtlCol="0" anchor="t"/>
          <a:lstStyle/>
          <a:p>
            <a:pPr indent="0" marL="0">
              <a:buNone/>
            </a:pPr>
            <a:r>
              <a:rPr lang="en-US" sz="1150" dirty="0">
                <a:solidFill>
                  <a:srgbClr val="334155"/>
                </a:solidFill>
                <a:latin typeface="Calibri" pitchFamily="34" charset="0"/>
                <a:ea typeface="Calibri" pitchFamily="34" charset="-122"/>
                <a:cs typeface="Calibri" pitchFamily="34" charset="-120"/>
              </a:rPr>
              <a:t>No external library dependency. Hand-rolled serialiser keeps binary portable and avoids licensing issues.</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w="12700">
            <a:solidFill>
              <a:srgbClr val="1E2761"/>
            </a:solidFill>
            <a:prstDash val="solid"/>
          </a:ln>
        </p:spPr>
      </p:sp>
      <p:sp>
        <p:nvSpPr>
          <p:cNvPr id="3" name="Text 1"/>
          <p:cNvSpPr/>
          <p:nvPr/>
        </p:nvSpPr>
        <p:spPr>
          <a:xfrm>
            <a:off x="365760" y="0"/>
            <a:ext cx="8412480" cy="77724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Syllabus Mapping Table</a:t>
            </a:r>
            <a:endParaRPr lang="en-US" sz="2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228600" y="914400"/>
          <a:ext cx="8686800" cy="914400"/>
        </p:xfrm>
        <a:graphic>
          <a:graphicData uri="http://schemas.openxmlformats.org/drawingml/2006/table">
            <a:tbl>
              <a:tblPr/>
              <a:tblGrid>
                <a:gridCol w="2286000"/>
                <a:gridCol w="3474720"/>
                <a:gridCol w="2834640"/>
              </a:tblGrid>
              <a:tr h="310896">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Syllabus Topic</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EduOS Implementation</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File / Line Reference</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761"/>
                    </a:solidFill>
                  </a:tcPr>
                </a:tc>
              </a:tr>
              <a:tr h="310896">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Process Creation &amp; PCB</a:t>
                      </a:r>
                      <a:endParaRPr lang="en-US" sz="10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edu_fork copies parent PCB; assigns new PID</a:t>
                      </a:r>
                      <a:endParaRPr lang="en-US" sz="10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process_manager.c : edu_fork()</a:t>
                      </a:r>
                      <a:endParaRPr lang="en-US" sz="10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310896">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Process Termination</a:t>
                      </a:r>
                      <a:endParaRPr lang="en-US" sz="10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edu_exit marks TERMINATED; records exit code</a:t>
                      </a:r>
                      <a:endParaRPr lang="en-US" sz="10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process_manager.c : edu_exit()</a:t>
                      </a:r>
                      <a:endParaRPr lang="en-US" sz="10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310896">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exec() System Call</a:t>
                      </a:r>
                      <a:endParaRPr lang="en-US" sz="10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edu_exec replaces name + burst fields</a:t>
                      </a:r>
                      <a:endParaRPr lang="en-US" sz="10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process_manager.c : edu_exec()</a:t>
                      </a:r>
                      <a:endParaRPr lang="en-US" sz="10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310896">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wait() System Call</a:t>
                      </a:r>
                      <a:endParaRPr lang="en-US" sz="10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edu_wait polls until all children TERMINATED</a:t>
                      </a:r>
                      <a:endParaRPr lang="en-US" sz="10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process_manager.c : edu_wait()</a:t>
                      </a:r>
                      <a:endParaRPr lang="en-US" sz="10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310896">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Thread Models (M2O, O2O)</a:t>
                      </a:r>
                      <a:endParaRPr lang="en-US" sz="10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setjmp/longjmp cooperative + pthreads parallel</a:t>
                      </a:r>
                      <a:endParaRPr lang="en-US" sz="10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thread_manager.c : demo_many_to_one/one_to_one()</a:t>
                      </a:r>
                      <a:endParaRPr lang="en-US" sz="10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310896">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Mutex / Semaphore</a:t>
                      </a:r>
                      <a:endParaRPr lang="en-US" sz="10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pthread_mutex + sem_init producer-consumer</a:t>
                      </a:r>
                      <a:endParaRPr lang="en-US" sz="10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thread_manager.c : demo_producer_consumer()</a:t>
                      </a:r>
                      <a:endParaRPr lang="en-US" sz="10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310896">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Race Conditions</a:t>
                      </a:r>
                      <a:endParaRPr lang="en-US" sz="10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make race vs make fixed (shared counter)</a:t>
                      </a:r>
                      <a:endParaRPr lang="en-US" sz="10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thread_manager.c : demo_race_condition()</a:t>
                      </a:r>
                      <a:endParaRPr lang="en-US" sz="10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310896">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IPC — Shared Memory</a:t>
                      </a:r>
                      <a:endParaRPr lang="en-US" sz="10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shm_open + mmap + owner_id access control</a:t>
                      </a:r>
                      <a:endParaRPr lang="en-US" sz="10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ipc_module.c : ipc_shared_memory_demo()</a:t>
                      </a:r>
                      <a:endParaRPr lang="en-US" sz="10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310896">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IPC — Pipes</a:t>
                      </a:r>
                      <a:endParaRPr lang="en-US" sz="10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Anonymous pipe: parent serialises → child reads</a:t>
                      </a:r>
                      <a:endParaRPr lang="en-US" sz="10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ipc_module.c : ipc_pipe_demo()</a:t>
                      </a:r>
                      <a:endParaRPr lang="en-US" sz="10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310896">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CPU Scheduling (4 algos)</a:t>
                      </a:r>
                      <a:endParaRPr lang="en-US" sz="10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FCFS, SJF, Priority+ageing, Round Robin</a:t>
                      </a:r>
                      <a:endParaRPr lang="en-US" sz="10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scheduler_sim.py : fcfs/sjf/priority_schedule/round_robin()</a:t>
                      </a:r>
                      <a:endParaRPr lang="en-US" sz="10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310896">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Deadlock Prevention</a:t>
                      </a:r>
                      <a:endParaRPr lang="en-US" sz="10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Consistent lock ordering policy</a:t>
                      </a:r>
                      <a:endParaRPr lang="en-US" sz="10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thread_manager.c : demo_deadlock()</a:t>
                      </a:r>
                      <a:endParaRPr lang="en-US" sz="10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w="12700">
            <a:solidFill>
              <a:srgbClr val="1E2761"/>
            </a:solidFill>
            <a:prstDash val="solid"/>
          </a:ln>
        </p:spPr>
      </p:sp>
      <p:sp>
        <p:nvSpPr>
          <p:cNvPr id="3" name="Text 1"/>
          <p:cNvSpPr/>
          <p:nvPr/>
        </p:nvSpPr>
        <p:spPr>
          <a:xfrm>
            <a:off x="365760" y="0"/>
            <a:ext cx="8412480" cy="77724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Scheduling Results — FCFS &amp; SJF</a:t>
            </a:r>
            <a:endParaRPr lang="en-US" sz="2200" dirty="0"/>
          </a:p>
        </p:txBody>
      </p:sp>
      <p:sp>
        <p:nvSpPr>
          <p:cNvPr id="4" name="Text 2"/>
          <p:cNvSpPr/>
          <p:nvPr/>
        </p:nvSpPr>
        <p:spPr>
          <a:xfrm>
            <a:off x="274320" y="868680"/>
            <a:ext cx="8595360" cy="274320"/>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FCFS — First Come First Served</a:t>
            </a:r>
            <a:endParaRPr lang="en-US" sz="1200" dirty="0"/>
          </a:p>
        </p:txBody>
      </p:sp>
      <p:pic>
        <p:nvPicPr>
          <p:cNvPr id="5" name="Image 0" descr="/home/claude/EduOS/docs/screenshots/gantt_fcfs.png">    </p:cNvPr>
          <p:cNvPicPr>
            <a:picLocks noChangeAspect="1"/>
          </p:cNvPicPr>
          <p:nvPr/>
        </p:nvPicPr>
        <p:blipFill>
          <a:blip r:embed="rId1"/>
          <a:stretch>
            <a:fillRect/>
          </a:stretch>
        </p:blipFill>
        <p:spPr>
          <a:xfrm>
            <a:off x="274320" y="1143000"/>
            <a:ext cx="8595360" cy="1691640"/>
          </a:xfrm>
          <a:prstGeom prst="rect">
            <a:avLst/>
          </a:prstGeom>
        </p:spPr>
      </p:pic>
      <p:sp>
        <p:nvSpPr>
          <p:cNvPr id="6" name="Text 3"/>
          <p:cNvSpPr/>
          <p:nvPr/>
        </p:nvSpPr>
        <p:spPr>
          <a:xfrm>
            <a:off x="274320" y="2926080"/>
            <a:ext cx="8595360" cy="274320"/>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SJF — Shortest Job First</a:t>
            </a:r>
            <a:endParaRPr lang="en-US" sz="1200" dirty="0"/>
          </a:p>
        </p:txBody>
      </p:sp>
      <p:pic>
        <p:nvPicPr>
          <p:cNvPr id="7" name="Image 1" descr="/home/claude/EduOS/docs/screenshots/gantt_sjf.png">    </p:cNvPr>
          <p:cNvPicPr>
            <a:picLocks noChangeAspect="1"/>
          </p:cNvPicPr>
          <p:nvPr/>
        </p:nvPicPr>
        <p:blipFill>
          <a:blip r:embed="rId2"/>
          <a:stretch>
            <a:fillRect/>
          </a:stretch>
        </p:blipFill>
        <p:spPr>
          <a:xfrm>
            <a:off x="274320" y="3200400"/>
            <a:ext cx="8595360" cy="169164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w="12700">
            <a:solidFill>
              <a:srgbClr val="1E2761"/>
            </a:solidFill>
            <a:prstDash val="solid"/>
          </a:ln>
        </p:spPr>
      </p:sp>
      <p:sp>
        <p:nvSpPr>
          <p:cNvPr id="3" name="Text 1"/>
          <p:cNvSpPr/>
          <p:nvPr/>
        </p:nvSpPr>
        <p:spPr>
          <a:xfrm>
            <a:off x="365760" y="0"/>
            <a:ext cx="8412480" cy="77724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Scheduling Results — Priority &amp; Round Robin</a:t>
            </a:r>
            <a:endParaRPr lang="en-US" sz="2200" dirty="0"/>
          </a:p>
        </p:txBody>
      </p:sp>
      <p:sp>
        <p:nvSpPr>
          <p:cNvPr id="4" name="Text 2"/>
          <p:cNvSpPr/>
          <p:nvPr/>
        </p:nvSpPr>
        <p:spPr>
          <a:xfrm>
            <a:off x="274320" y="868680"/>
            <a:ext cx="8595360" cy="274320"/>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Priority Scheduling (with ageing — every 3 ticks → +1 priority)</a:t>
            </a:r>
            <a:endParaRPr lang="en-US" sz="1200" dirty="0"/>
          </a:p>
        </p:txBody>
      </p:sp>
      <p:pic>
        <p:nvPicPr>
          <p:cNvPr id="5" name="Image 0" descr="/home/claude/EduOS/docs/screenshots/gantt_priority.png">    </p:cNvPr>
          <p:cNvPicPr>
            <a:picLocks noChangeAspect="1"/>
          </p:cNvPicPr>
          <p:nvPr/>
        </p:nvPicPr>
        <p:blipFill>
          <a:blip r:embed="rId1"/>
          <a:stretch>
            <a:fillRect/>
          </a:stretch>
        </p:blipFill>
        <p:spPr>
          <a:xfrm>
            <a:off x="274320" y="1143000"/>
            <a:ext cx="8595360" cy="1691640"/>
          </a:xfrm>
          <a:prstGeom prst="rect">
            <a:avLst/>
          </a:prstGeom>
        </p:spPr>
      </p:pic>
      <p:sp>
        <p:nvSpPr>
          <p:cNvPr id="6" name="Text 3"/>
          <p:cNvSpPr/>
          <p:nvPr/>
        </p:nvSpPr>
        <p:spPr>
          <a:xfrm>
            <a:off x="274320" y="2926080"/>
            <a:ext cx="8595360" cy="274320"/>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Round Robin (Q=3) — Preemptive</a:t>
            </a:r>
            <a:endParaRPr lang="en-US" sz="1200" dirty="0"/>
          </a:p>
        </p:txBody>
      </p:sp>
      <p:pic>
        <p:nvPicPr>
          <p:cNvPr id="7" name="Image 1" descr="/home/claude/EduOS/docs/screenshots/gantt_rr.png">    </p:cNvPr>
          <p:cNvPicPr>
            <a:picLocks noChangeAspect="1"/>
          </p:cNvPicPr>
          <p:nvPr/>
        </p:nvPicPr>
        <p:blipFill>
          <a:blip r:embed="rId2"/>
          <a:stretch>
            <a:fillRect/>
          </a:stretch>
        </p:blipFill>
        <p:spPr>
          <a:xfrm>
            <a:off x="274320" y="3200400"/>
            <a:ext cx="8595360" cy="16916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w="12700">
            <a:solidFill>
              <a:srgbClr val="1E2761"/>
            </a:solidFill>
            <a:prstDash val="solid"/>
          </a:ln>
        </p:spPr>
      </p:sp>
      <p:sp>
        <p:nvSpPr>
          <p:cNvPr id="3" name="Text 1"/>
          <p:cNvSpPr/>
          <p:nvPr/>
        </p:nvSpPr>
        <p:spPr>
          <a:xfrm>
            <a:off x="365760" y="0"/>
            <a:ext cx="8412480" cy="77724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Scheduling Analysis — Algorithm Comparison</a:t>
            </a:r>
            <a:endParaRPr lang="en-US" sz="2200" dirty="0"/>
          </a:p>
        </p:txBody>
      </p:sp>
      <p:pic>
        <p:nvPicPr>
          <p:cNvPr id="4" name="Image 0" descr="/home/claude/EduOS/docs/screenshots/comparison_charts.png">    </p:cNvPr>
          <p:cNvPicPr>
            <a:picLocks noChangeAspect="1"/>
          </p:cNvPicPr>
          <p:nvPr/>
        </p:nvPicPr>
        <p:blipFill>
          <a:blip r:embed="rId1"/>
          <a:stretch>
            <a:fillRect/>
          </a:stretch>
        </p:blipFill>
        <p:spPr>
          <a:xfrm>
            <a:off x="182880" y="914400"/>
            <a:ext cx="8778240" cy="3200400"/>
          </a:xfrm>
          <a:prstGeom prst="rect">
            <a:avLst/>
          </a:prstGeom>
        </p:spPr>
      </p:pic>
      <p:sp>
        <p:nvSpPr>
          <p:cNvPr id="5" name="Text 2"/>
          <p:cNvSpPr/>
          <p:nvPr/>
        </p:nvSpPr>
        <p:spPr>
          <a:xfrm>
            <a:off x="274320" y="4206240"/>
            <a:ext cx="8595360" cy="640080"/>
          </a:xfrm>
          <a:prstGeom prst="rect">
            <a:avLst/>
          </a:prstGeom>
          <a:noFill/>
          <a:ln/>
        </p:spPr>
        <p:txBody>
          <a:bodyPr wrap="square"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Key insight: </a:t>
            </a:r>
            <a:pPr indent="0" marL="0">
              <a:buNone/>
            </a:pPr>
            <a:r>
              <a:rPr lang="en-US" sz="1200" dirty="0">
                <a:solidFill>
                  <a:srgbClr val="1E293B"/>
                </a:solidFill>
                <a:latin typeface="Calibri" pitchFamily="34" charset="0"/>
                <a:ea typeface="Calibri" pitchFamily="34" charset="-122"/>
                <a:cs typeface="Calibri" pitchFamily="34" charset="-120"/>
              </a:rPr>
              <a:t>SJF gives the lowest average waiting time on this dataset. Round Robin (Q=3) delivers the best response time — ideal for interactive workloads. FCFS suffers convoy effect with long-burst processes arriving early.</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w="12700">
            <a:solidFill>
              <a:srgbClr val="1E2761"/>
            </a:solidFill>
            <a:prstDash val="solid"/>
          </a:ln>
        </p:spPr>
      </p:sp>
      <p:sp>
        <p:nvSpPr>
          <p:cNvPr id="3" name="Text 1"/>
          <p:cNvSpPr/>
          <p:nvPr/>
        </p:nvSpPr>
        <p:spPr>
          <a:xfrm>
            <a:off x="365760" y="0"/>
            <a:ext cx="8412480" cy="77724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Threading Issues Encountered</a:t>
            </a:r>
            <a:endParaRPr lang="en-US" sz="2200" dirty="0"/>
          </a:p>
        </p:txBody>
      </p:sp>
      <p:sp>
        <p:nvSpPr>
          <p:cNvPr id="4" name="Shape 2"/>
          <p:cNvSpPr/>
          <p:nvPr/>
        </p:nvSpPr>
        <p:spPr>
          <a:xfrm>
            <a:off x="274320" y="960120"/>
            <a:ext cx="4114800" cy="3749040"/>
          </a:xfrm>
          <a:prstGeom prst="rect">
            <a:avLst/>
          </a:prstGeom>
          <a:solidFill>
            <a:srgbClr val="FFFFFF"/>
          </a:solidFill>
          <a:ln w="12700">
            <a:solidFill>
              <a:srgbClr val="E8EEF7"/>
            </a:solidFill>
            <a:prstDash val="solid"/>
          </a:ln>
          <a:effectLst>
            <a:outerShdw sx="100000" sy="100000" kx="0" ky="0" algn="bl" rotWithShape="0" blurRad="101600" dist="38100" dir="8100000">
              <a:srgbClr val="000000">
                <a:alpha val="18000"/>
              </a:srgbClr>
            </a:outerShdw>
          </a:effectLst>
        </p:spPr>
      </p:sp>
      <p:sp>
        <p:nvSpPr>
          <p:cNvPr id="5" name="Shape 3"/>
          <p:cNvSpPr/>
          <p:nvPr/>
        </p:nvSpPr>
        <p:spPr>
          <a:xfrm>
            <a:off x="274320" y="960120"/>
            <a:ext cx="54864" cy="3749040"/>
          </a:xfrm>
          <a:prstGeom prst="rect">
            <a:avLst/>
          </a:prstGeom>
          <a:solidFill>
            <a:srgbClr val="F59E0B"/>
          </a:solidFill>
          <a:ln w="12700">
            <a:solidFill>
              <a:srgbClr val="F59E0B"/>
            </a:solidFill>
            <a:prstDash val="solid"/>
          </a:ln>
        </p:spPr>
      </p:sp>
      <p:pic>
        <p:nvPicPr>
          <p:cNvPr id="6" name="Image 0" descr="preencoded.png">    </p:cNvPr>
          <p:cNvPicPr>
            <a:picLocks noChangeAspect="1"/>
          </p:cNvPicPr>
          <p:nvPr/>
        </p:nvPicPr>
        <p:blipFill>
          <a:blip r:embed="rId1"/>
          <a:stretch>
            <a:fillRect/>
          </a:stretch>
        </p:blipFill>
        <p:spPr>
          <a:xfrm>
            <a:off x="438912" y="1078992"/>
            <a:ext cx="457200" cy="457200"/>
          </a:xfrm>
          <a:prstGeom prst="rect">
            <a:avLst/>
          </a:prstGeom>
        </p:spPr>
      </p:pic>
      <p:sp>
        <p:nvSpPr>
          <p:cNvPr id="7" name="Text 4"/>
          <p:cNvSpPr/>
          <p:nvPr/>
        </p:nvSpPr>
        <p:spPr>
          <a:xfrm>
            <a:off x="1005840" y="1078992"/>
            <a:ext cx="3200400" cy="45720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Race Condition Demo</a:t>
            </a:r>
            <a:endParaRPr lang="en-US" sz="1400" dirty="0"/>
          </a:p>
        </p:txBody>
      </p:sp>
      <p:sp>
        <p:nvSpPr>
          <p:cNvPr id="8" name="Text 5"/>
          <p:cNvSpPr/>
          <p:nvPr/>
        </p:nvSpPr>
        <p:spPr>
          <a:xfrm>
            <a:off x="411480" y="1627632"/>
            <a:ext cx="3840480" cy="2926080"/>
          </a:xfrm>
          <a:prstGeom prst="rect">
            <a:avLst/>
          </a:prstGeom>
          <a:noFill/>
          <a:ln/>
        </p:spPr>
        <p:txBody>
          <a:bodyPr wrap="square" rtlCol="0" anchor="t"/>
          <a:lstStyle/>
          <a:p>
            <a:pPr indent="0" marL="0">
              <a:spcAft>
                <a:spcPts val="500"/>
              </a:spcAft>
              <a:buNone/>
            </a:pPr>
            <a:r>
              <a:rPr lang="en-US" sz="1150" b="1" dirty="0">
                <a:solidFill>
                  <a:srgbClr val="1E293B"/>
                </a:solidFill>
                <a:latin typeface="Calibri" pitchFamily="34" charset="0"/>
                <a:ea typeface="Calibri" pitchFamily="34" charset="-122"/>
                <a:cs typeface="Calibri" pitchFamily="34" charset="-120"/>
              </a:rPr>
              <a:t>Problem: </a:t>
            </a:r>
            <a:pPr indent="0" marL="0">
              <a:spcAft>
                <a:spcPts val="500"/>
              </a:spcAft>
              <a:buNone/>
            </a:pPr>
            <a:r>
              <a:rPr lang="en-US" sz="1150" dirty="0">
                <a:solidFill>
                  <a:srgbClr val="1E293B"/>
                </a:solidFill>
                <a:latin typeface="Calibri" pitchFamily="34" charset="0"/>
                <a:ea typeface="Calibri" pitchFamily="34" charset="-122"/>
                <a:cs typeface="Calibri" pitchFamily="34" charset="-120"/>
              </a:rPr>
              <a:t>4 threads increment a shared counter 250,000× each (total expected: 1,000,000).
</a:t>
            </a:r>
            <a:pPr indent="0" marL="0">
              <a:spcAft>
                <a:spcPts val="500"/>
              </a:spcAft>
              <a:buNone/>
            </a:pPr>
            <a:r>
              <a:rPr lang="en-US" sz="1150" b="1" dirty="0">
                <a:solidFill>
                  <a:srgbClr val="1E293B"/>
                </a:solidFill>
                <a:latin typeface="Calibri" pitchFamily="34" charset="0"/>
                <a:ea typeface="Calibri" pitchFamily="34" charset="-122"/>
                <a:cs typeface="Calibri" pitchFamily="34" charset="-120"/>
              </a:rPr>
              <a:t>make race (no mutex): </a:t>
            </a:r>
            <a:pPr indent="0" marL="0">
              <a:spcAft>
                <a:spcPts val="500"/>
              </a:spcAft>
              <a:buNone/>
            </a:pPr>
            <a:r>
              <a:rPr lang="en-US" sz="1150" dirty="0">
                <a:solidFill>
                  <a:srgbClr val="1E293B"/>
                </a:solidFill>
                <a:latin typeface="Calibri" pitchFamily="34" charset="0"/>
                <a:ea typeface="Calibri" pitchFamily="34" charset="-122"/>
                <a:cs typeface="Calibri" pitchFamily="34" charset="-120"/>
              </a:rPr>
              <a:t>results varied across 5 runs — 847,312 / 901,445 / 923,187 / 788,902 / 955,001.
</a:t>
            </a:r>
            <a:pPr indent="0" marL="0">
              <a:spcAft>
                <a:spcPts val="500"/>
              </a:spcAft>
              <a:buNone/>
            </a:pPr>
            <a:r>
              <a:rPr lang="en-US" sz="1150" b="1" dirty="0">
                <a:solidFill>
                  <a:srgbClr val="1E293B"/>
                </a:solidFill>
                <a:latin typeface="Calibri" pitchFamily="34" charset="0"/>
                <a:ea typeface="Calibri" pitchFamily="34" charset="-122"/>
                <a:cs typeface="Calibri" pitchFamily="34" charset="-120"/>
              </a:rPr>
              <a:t>Root cause: </a:t>
            </a:r>
            <a:pPr indent="0" marL="0">
              <a:spcAft>
                <a:spcPts val="500"/>
              </a:spcAft>
              <a:buNone/>
            </a:pPr>
            <a:r>
              <a:rPr lang="en-US" sz="1150" dirty="0">
                <a:solidFill>
                  <a:srgbClr val="1E293B"/>
                </a:solidFill>
                <a:latin typeface="Calibri" pitchFamily="34" charset="0"/>
                <a:ea typeface="Calibri" pitchFamily="34" charset="-122"/>
                <a:cs typeface="Calibri" pitchFamily="34" charset="-120"/>
              </a:rPr>
              <a:t>read-modify-write is non-atomic; threads interleave the three instructions.
</a:t>
            </a:r>
            <a:pPr indent="0" marL="0">
              <a:spcAft>
                <a:spcPts val="500"/>
              </a:spcAft>
              <a:buNone/>
            </a:pPr>
            <a:r>
              <a:rPr lang="en-US" sz="1150" b="1" dirty="0">
                <a:solidFill>
                  <a:srgbClr val="1E293B"/>
                </a:solidFill>
                <a:latin typeface="Calibri" pitchFamily="34" charset="0"/>
                <a:ea typeface="Calibri" pitchFamily="34" charset="-122"/>
                <a:cs typeface="Calibri" pitchFamily="34" charset="-120"/>
              </a:rPr>
              <a:t>make fixed (mutex): </a:t>
            </a:r>
            <a:pPr indent="0" marL="0">
              <a:spcAft>
                <a:spcPts val="500"/>
              </a:spcAft>
              <a:buNone/>
            </a:pPr>
            <a:r>
              <a:rPr lang="en-US" sz="1150" dirty="0">
                <a:solidFill>
                  <a:srgbClr val="1E293B"/>
                </a:solidFill>
                <a:latin typeface="Calibri" pitchFamily="34" charset="0"/>
                <a:ea typeface="Calibri" pitchFamily="34" charset="-122"/>
                <a:cs typeface="Calibri" pitchFamily="34" charset="-120"/>
              </a:rPr>
              <a:t>all 5 runs returned exactly 1,000,000. mutex serialises the critical section.</a:t>
            </a:r>
            <a:endParaRPr lang="en-US" sz="1150" dirty="0"/>
          </a:p>
        </p:txBody>
      </p:sp>
      <p:sp>
        <p:nvSpPr>
          <p:cNvPr id="9" name="Shape 6"/>
          <p:cNvSpPr/>
          <p:nvPr/>
        </p:nvSpPr>
        <p:spPr>
          <a:xfrm>
            <a:off x="4754880" y="960120"/>
            <a:ext cx="4114800" cy="3749040"/>
          </a:xfrm>
          <a:prstGeom prst="rect">
            <a:avLst/>
          </a:prstGeom>
          <a:solidFill>
            <a:srgbClr val="FFFFFF"/>
          </a:solidFill>
          <a:ln w="12700">
            <a:solidFill>
              <a:srgbClr val="E8EEF7"/>
            </a:solidFill>
            <a:prstDash val="solid"/>
          </a:ln>
          <a:effectLst>
            <a:outerShdw sx="100000" sy="100000" kx="0" ky="0" algn="bl" rotWithShape="0" blurRad="101600" dist="38100" dir="8100000">
              <a:srgbClr val="000000">
                <a:alpha val="18000"/>
              </a:srgbClr>
            </a:outerShdw>
          </a:effectLst>
        </p:spPr>
      </p:sp>
      <p:sp>
        <p:nvSpPr>
          <p:cNvPr id="10" name="Shape 7"/>
          <p:cNvSpPr/>
          <p:nvPr/>
        </p:nvSpPr>
        <p:spPr>
          <a:xfrm>
            <a:off x="4754880" y="960120"/>
            <a:ext cx="54864" cy="3749040"/>
          </a:xfrm>
          <a:prstGeom prst="rect">
            <a:avLst/>
          </a:prstGeom>
          <a:solidFill>
            <a:srgbClr val="028090"/>
          </a:solidFill>
          <a:ln w="12700">
            <a:solidFill>
              <a:srgbClr val="028090"/>
            </a:solidFill>
            <a:prstDash val="solid"/>
          </a:ln>
        </p:spPr>
      </p:sp>
      <p:pic>
        <p:nvPicPr>
          <p:cNvPr id="11" name="Image 1" descr="preencoded.png">    </p:cNvPr>
          <p:cNvPicPr>
            <a:picLocks noChangeAspect="1"/>
          </p:cNvPicPr>
          <p:nvPr/>
        </p:nvPicPr>
        <p:blipFill>
          <a:blip r:embed="rId2"/>
          <a:stretch>
            <a:fillRect/>
          </a:stretch>
        </p:blipFill>
        <p:spPr>
          <a:xfrm>
            <a:off x="4919472" y="1078992"/>
            <a:ext cx="457200" cy="457200"/>
          </a:xfrm>
          <a:prstGeom prst="rect">
            <a:avLst/>
          </a:prstGeom>
        </p:spPr>
      </p:pic>
      <p:sp>
        <p:nvSpPr>
          <p:cNvPr id="12" name="Text 8"/>
          <p:cNvSpPr/>
          <p:nvPr/>
        </p:nvSpPr>
        <p:spPr>
          <a:xfrm>
            <a:off x="5486400" y="1078992"/>
            <a:ext cx="3200400" cy="45720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Deadlock Demo &amp; Fix</a:t>
            </a:r>
            <a:endParaRPr lang="en-US" sz="1400" dirty="0"/>
          </a:p>
        </p:txBody>
      </p:sp>
      <p:sp>
        <p:nvSpPr>
          <p:cNvPr id="13" name="Text 9"/>
          <p:cNvSpPr/>
          <p:nvPr/>
        </p:nvSpPr>
        <p:spPr>
          <a:xfrm>
            <a:off x="4892040" y="1627632"/>
            <a:ext cx="3840480" cy="2926080"/>
          </a:xfrm>
          <a:prstGeom prst="rect">
            <a:avLst/>
          </a:prstGeom>
          <a:noFill/>
          <a:ln/>
        </p:spPr>
        <p:txBody>
          <a:bodyPr wrap="square" rtlCol="0" anchor="t"/>
          <a:lstStyle/>
          <a:p>
            <a:pPr indent="0" marL="0">
              <a:spcAft>
                <a:spcPts val="500"/>
              </a:spcAft>
              <a:buNone/>
            </a:pPr>
            <a:r>
              <a:rPr lang="en-US" sz="1150" b="1" dirty="0">
                <a:solidFill>
                  <a:srgbClr val="1E293B"/>
                </a:solidFill>
                <a:latin typeface="Calibri" pitchFamily="34" charset="0"/>
                <a:ea typeface="Calibri" pitchFamily="34" charset="-122"/>
                <a:cs typeface="Calibri" pitchFamily="34" charset="-120"/>
              </a:rPr>
              <a:t>Problem: </a:t>
            </a:r>
            <a:pPr indent="0" marL="0">
              <a:spcAft>
                <a:spcPts val="500"/>
              </a:spcAft>
              <a:buNone/>
            </a:pPr>
            <a:r>
              <a:rPr lang="en-US" sz="1150" dirty="0">
                <a:solidFill>
                  <a:srgbClr val="1E293B"/>
                </a:solidFill>
                <a:latin typeface="Calibri" pitchFamily="34" charset="0"/>
                <a:ea typeface="Calibri" pitchFamily="34" charset="-122"/>
                <a:cs typeface="Calibri" pitchFamily="34" charset="-120"/>
              </a:rPr>
              <a:t>Thread A locks mutex1→mutex2; Thread B locks mutex2→mutex1. Circular wait → deadlock.
</a:t>
            </a:r>
            <a:pPr indent="0" marL="0">
              <a:spcAft>
                <a:spcPts val="500"/>
              </a:spcAft>
              <a:buNone/>
            </a:pPr>
            <a:r>
              <a:rPr lang="en-US" sz="1150" b="1" dirty="0">
                <a:solidFill>
                  <a:srgbClr val="1E293B"/>
                </a:solidFill>
                <a:latin typeface="Calibri" pitchFamily="34" charset="0"/>
                <a:ea typeface="Calibri" pitchFamily="34" charset="-122"/>
                <a:cs typeface="Calibri" pitchFamily="34" charset="-120"/>
              </a:rPr>
              <a:t>Detection: </a:t>
            </a:r>
            <a:pPr indent="0" marL="0">
              <a:spcAft>
                <a:spcPts val="500"/>
              </a:spcAft>
              <a:buNone/>
            </a:pPr>
            <a:r>
              <a:rPr lang="en-US" sz="1150" dirty="0">
                <a:solidFill>
                  <a:srgbClr val="1E293B"/>
                </a:solidFill>
                <a:latin typeface="Calibri" pitchFamily="34" charset="0"/>
                <a:ea typeface="Calibri" pitchFamily="34" charset="-122"/>
                <a:cs typeface="Calibri" pitchFamily="34" charset="-120"/>
              </a:rPr>
              <a:t>Program hung indefinitely (DEADLOCK_DEMO flag).
</a:t>
            </a:r>
            <a:pPr indent="0" marL="0">
              <a:spcAft>
                <a:spcPts val="500"/>
              </a:spcAft>
              <a:buNone/>
            </a:pPr>
            <a:r>
              <a:rPr lang="en-US" sz="1150" b="1" dirty="0">
                <a:solidFill>
                  <a:srgbClr val="1E293B"/>
                </a:solidFill>
                <a:latin typeface="Calibri" pitchFamily="34" charset="0"/>
                <a:ea typeface="Calibri" pitchFamily="34" charset="-122"/>
                <a:cs typeface="Calibri" pitchFamily="34" charset="-120"/>
              </a:rPr>
              <a:t>Fix: </a:t>
            </a:r>
            <a:pPr indent="0" marL="0">
              <a:spcAft>
                <a:spcPts val="500"/>
              </a:spcAft>
              <a:buNone/>
            </a:pPr>
            <a:r>
              <a:rPr lang="en-US" sz="1150" dirty="0">
                <a:solidFill>
                  <a:srgbClr val="1E293B"/>
                </a:solidFill>
                <a:latin typeface="Calibri" pitchFamily="34" charset="0"/>
                <a:ea typeface="Calibri" pitchFamily="34" charset="-122"/>
                <a:cs typeface="Calibri" pitchFamily="34" charset="-120"/>
              </a:rPr>
              <a:t>Consistent lock ordering — both threads always acquire mutex1 before mutex2. Breaks circular wait.
</a:t>
            </a:r>
            <a:pPr indent="0" marL="0">
              <a:spcAft>
                <a:spcPts val="500"/>
              </a:spcAft>
              <a:buNone/>
            </a:pPr>
            <a:r>
              <a:rPr lang="en-US" sz="1150" b="1" dirty="0">
                <a:solidFill>
                  <a:srgbClr val="1E293B"/>
                </a:solidFill>
                <a:latin typeface="Calibri" pitchFamily="34" charset="0"/>
                <a:ea typeface="Calibri" pitchFamily="34" charset="-122"/>
                <a:cs typeface="Calibri" pitchFamily="34" charset="-120"/>
              </a:rPr>
              <a:t>Semaphore variant: </a:t>
            </a:r>
            <a:pPr indent="0" marL="0">
              <a:spcAft>
                <a:spcPts val="500"/>
              </a:spcAft>
              <a:buNone/>
            </a:pPr>
            <a:r>
              <a:rPr lang="en-US" sz="1150" dirty="0">
                <a:solidFill>
                  <a:srgbClr val="1E293B"/>
                </a:solidFill>
                <a:latin typeface="Calibri" pitchFamily="34" charset="0"/>
                <a:ea typeface="Calibri" pitchFamily="34" charset="-122"/>
                <a:cs typeface="Calibri" pitchFamily="34" charset="-120"/>
              </a:rPr>
              <a:t>producer-consumer with sem_init; sem_wait/sem_post ensure bounded buffer safety.</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w="12700">
            <a:solidFill>
              <a:srgbClr val="1E2761"/>
            </a:solidFill>
            <a:prstDash val="solid"/>
          </a:ln>
        </p:spPr>
      </p:sp>
      <p:sp>
        <p:nvSpPr>
          <p:cNvPr id="3" name="Text 1"/>
          <p:cNvSpPr/>
          <p:nvPr/>
        </p:nvSpPr>
        <p:spPr>
          <a:xfrm>
            <a:off x="365760" y="0"/>
            <a:ext cx="8412480" cy="77724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C vs Python — Lessons Learned</a:t>
            </a:r>
            <a:endParaRPr lang="en-US" sz="2200" dirty="0"/>
          </a:p>
        </p:txBody>
      </p:sp>
      <p:sp>
        <p:nvSpPr>
          <p:cNvPr id="4" name="Shape 2"/>
          <p:cNvSpPr/>
          <p:nvPr/>
        </p:nvSpPr>
        <p:spPr>
          <a:xfrm>
            <a:off x="274320" y="960120"/>
            <a:ext cx="4114800" cy="3749040"/>
          </a:xfrm>
          <a:prstGeom prst="rect">
            <a:avLst/>
          </a:prstGeom>
          <a:solidFill>
            <a:srgbClr val="FFFFFF"/>
          </a:solidFill>
          <a:ln w="12700">
            <a:solidFill>
              <a:srgbClr val="E8EEF7"/>
            </a:solidFill>
            <a:prstDash val="solid"/>
          </a:ln>
          <a:effectLst>
            <a:outerShdw sx="100000" sy="100000" kx="0" ky="0" algn="bl" rotWithShape="0" blurRad="101600" dist="38100" dir="8100000">
              <a:srgbClr val="000000">
                <a:alpha val="18000"/>
              </a:srgbClr>
            </a:outerShdw>
          </a:effectLst>
        </p:spPr>
      </p:sp>
      <p:sp>
        <p:nvSpPr>
          <p:cNvPr id="5" name="Shape 3"/>
          <p:cNvSpPr/>
          <p:nvPr/>
        </p:nvSpPr>
        <p:spPr>
          <a:xfrm>
            <a:off x="274320" y="960120"/>
            <a:ext cx="54864" cy="3749040"/>
          </a:xfrm>
          <a:prstGeom prst="rect">
            <a:avLst/>
          </a:prstGeom>
          <a:solidFill>
            <a:srgbClr val="028090"/>
          </a:solidFill>
          <a:ln w="12700">
            <a:solidFill>
              <a:srgbClr val="028090"/>
            </a:solidFill>
            <a:prstDash val="solid"/>
          </a:ln>
        </p:spPr>
      </p:sp>
      <p:pic>
        <p:nvPicPr>
          <p:cNvPr id="6" name="Image 0" descr="preencoded.png">    </p:cNvPr>
          <p:cNvPicPr>
            <a:picLocks noChangeAspect="1"/>
          </p:cNvPicPr>
          <p:nvPr/>
        </p:nvPicPr>
        <p:blipFill>
          <a:blip r:embed="rId1"/>
          <a:stretch>
            <a:fillRect/>
          </a:stretch>
        </p:blipFill>
        <p:spPr>
          <a:xfrm>
            <a:off x="438912" y="1078992"/>
            <a:ext cx="411480" cy="411480"/>
          </a:xfrm>
          <a:prstGeom prst="rect">
            <a:avLst/>
          </a:prstGeom>
        </p:spPr>
      </p:pic>
      <p:sp>
        <p:nvSpPr>
          <p:cNvPr id="7" name="Text 4"/>
          <p:cNvSpPr/>
          <p:nvPr/>
        </p:nvSpPr>
        <p:spPr>
          <a:xfrm>
            <a:off x="960120" y="1078992"/>
            <a:ext cx="3200400" cy="41148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C Core — Low Level</a:t>
            </a:r>
            <a:endParaRPr lang="en-US" sz="1400" dirty="0"/>
          </a:p>
        </p:txBody>
      </p:sp>
      <p:sp>
        <p:nvSpPr>
          <p:cNvPr id="8" name="Text 5"/>
          <p:cNvSpPr/>
          <p:nvPr/>
        </p:nvSpPr>
        <p:spPr>
          <a:xfrm>
            <a:off x="411480" y="1572768"/>
            <a:ext cx="3840480" cy="3017520"/>
          </a:xfrm>
          <a:prstGeom prst="rect">
            <a:avLst/>
          </a:prstGeom>
          <a:noFill/>
          <a:ln/>
        </p:spPr>
        <p:txBody>
          <a:bodyPr wrap="square" rtlCol="0" anchor="t"/>
          <a:lstStyle/>
          <a:p>
            <a:pPr indent="0" marL="0">
              <a:spcAft>
                <a:spcPts val="500"/>
              </a:spcAft>
              <a:buNone/>
            </a:pPr>
            <a:r>
              <a:rPr lang="en-US" sz="1150" dirty="0">
                <a:solidFill>
                  <a:srgbClr val="1E293B"/>
                </a:solidFill>
                <a:latin typeface="Calibri" pitchFamily="34" charset="0"/>
                <a:ea typeface="Calibri" pitchFamily="34" charset="-122"/>
                <a:cs typeface="Calibri" pitchFamily="34" charset="-120"/>
              </a:rPr>
              <a:t>Implementing a ready-queue in C meant managing raw memory: manually allocating PCB slots, tracking head/tail indices, and protecting every access with a mutex. Every system call return value required explicit error checking with perror(). The JSON serialiser required hand-rolling string escaping — a task Python handles with json.dumps(). C forced awareness of every byte: struct padding, pointer aliasing, and undefined behaviour from unprotected shared state. The valgrind workflow was invaluable: it surfaced a missing munmap() in an early draft and confirmed zero leaks after the fix.</a:t>
            </a:r>
            <a:endParaRPr lang="en-US" sz="1150" dirty="0"/>
          </a:p>
        </p:txBody>
      </p:sp>
      <p:sp>
        <p:nvSpPr>
          <p:cNvPr id="9" name="Shape 6"/>
          <p:cNvSpPr/>
          <p:nvPr/>
        </p:nvSpPr>
        <p:spPr>
          <a:xfrm>
            <a:off x="4754880" y="960120"/>
            <a:ext cx="4114800" cy="3749040"/>
          </a:xfrm>
          <a:prstGeom prst="rect">
            <a:avLst/>
          </a:prstGeom>
          <a:solidFill>
            <a:srgbClr val="FFFFFF"/>
          </a:solidFill>
          <a:ln w="12700">
            <a:solidFill>
              <a:srgbClr val="E8EEF7"/>
            </a:solidFill>
            <a:prstDash val="solid"/>
          </a:ln>
          <a:effectLst>
            <a:outerShdw sx="100000" sy="100000" kx="0" ky="0" algn="bl" rotWithShape="0" blurRad="101600" dist="38100" dir="8100000">
              <a:srgbClr val="000000">
                <a:alpha val="18000"/>
              </a:srgbClr>
            </a:outerShdw>
          </a:effectLst>
        </p:spPr>
      </p:sp>
      <p:sp>
        <p:nvSpPr>
          <p:cNvPr id="10" name="Shape 7"/>
          <p:cNvSpPr/>
          <p:nvPr/>
        </p:nvSpPr>
        <p:spPr>
          <a:xfrm>
            <a:off x="4754880" y="960120"/>
            <a:ext cx="54864" cy="3749040"/>
          </a:xfrm>
          <a:prstGeom prst="rect">
            <a:avLst/>
          </a:prstGeom>
          <a:solidFill>
            <a:srgbClr val="02C39A"/>
          </a:solidFill>
          <a:ln w="12700">
            <a:solidFill>
              <a:srgbClr val="02C39A"/>
            </a:solidFill>
            <a:prstDash val="solid"/>
          </a:ln>
        </p:spPr>
      </p:sp>
      <p:pic>
        <p:nvPicPr>
          <p:cNvPr id="11" name="Image 1" descr="preencoded.png">    </p:cNvPr>
          <p:cNvPicPr>
            <a:picLocks noChangeAspect="1"/>
          </p:cNvPicPr>
          <p:nvPr/>
        </p:nvPicPr>
        <p:blipFill>
          <a:blip r:embed="rId2"/>
          <a:stretch>
            <a:fillRect/>
          </a:stretch>
        </p:blipFill>
        <p:spPr>
          <a:xfrm>
            <a:off x="4919472" y="1078992"/>
            <a:ext cx="411480" cy="411480"/>
          </a:xfrm>
          <a:prstGeom prst="rect">
            <a:avLst/>
          </a:prstGeom>
        </p:spPr>
      </p:pic>
      <p:sp>
        <p:nvSpPr>
          <p:cNvPr id="12" name="Text 8"/>
          <p:cNvSpPr/>
          <p:nvPr/>
        </p:nvSpPr>
        <p:spPr>
          <a:xfrm>
            <a:off x="5486400" y="1078992"/>
            <a:ext cx="3200400" cy="41148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Python — High Level</a:t>
            </a:r>
            <a:endParaRPr lang="en-US" sz="1400" dirty="0"/>
          </a:p>
        </p:txBody>
      </p:sp>
      <p:sp>
        <p:nvSpPr>
          <p:cNvPr id="13" name="Text 9"/>
          <p:cNvSpPr/>
          <p:nvPr/>
        </p:nvSpPr>
        <p:spPr>
          <a:xfrm>
            <a:off x="4892040" y="1572768"/>
            <a:ext cx="3840480" cy="3017520"/>
          </a:xfrm>
          <a:prstGeom prst="rect">
            <a:avLst/>
          </a:prstGeom>
          <a:noFill/>
          <a:ln/>
        </p:spPr>
        <p:txBody>
          <a:bodyPr wrap="square" rtlCol="0" anchor="t"/>
          <a:lstStyle/>
          <a:p>
            <a:pPr indent="0" marL="0">
              <a:spcAft>
                <a:spcPts val="500"/>
              </a:spcAft>
              <a:buNone/>
            </a:pPr>
            <a:r>
              <a:rPr lang="en-US" sz="1150" dirty="0">
                <a:solidFill>
                  <a:srgbClr val="1E293B"/>
                </a:solidFill>
                <a:latin typeface="Calibri" pitchFamily="34" charset="0"/>
                <a:ea typeface="Calibri" pitchFamily="34" charset="-122"/>
                <a:cs typeface="Calibri" pitchFamily="34" charset="-120"/>
              </a:rPr>
              <a:t>The same ready-queue in Python is a plain list with queue.pop(0) — the language handles memory, type coercion, and JSON serialisation automatically. This let implementation focus on algorithmic correctness: the ageing logic in Priority Scheduling and the arrival-detection loop in Round Robin were written and tested in minutes. However, Python's GIL makes true thread parallelism impossible, reinforcing why OS schedulers cannot be implemented in pure Python for multi-core workloads. Matplotlib produced publication-quality Gantt charts with far less code than an equivalent C implementation would require. The two-language approach made the abstraction gap between kernel and user space tangible.</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w="12700">
            <a:solidFill>
              <a:srgbClr val="1E2761"/>
            </a:solidFill>
            <a:prstDash val="solid"/>
          </a:ln>
        </p:spPr>
      </p:sp>
      <p:sp>
        <p:nvSpPr>
          <p:cNvPr id="3" name="Text 1"/>
          <p:cNvSpPr/>
          <p:nvPr/>
        </p:nvSpPr>
        <p:spPr>
          <a:xfrm>
            <a:off x="365760" y="0"/>
            <a:ext cx="8412480" cy="77724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OS Concept: Structure &amp; System Calls</a:t>
            </a:r>
            <a:endParaRPr lang="en-US" sz="2200" dirty="0"/>
          </a:p>
        </p:txBody>
      </p:sp>
      <p:sp>
        <p:nvSpPr>
          <p:cNvPr id="4" name="Shape 2"/>
          <p:cNvSpPr/>
          <p:nvPr/>
        </p:nvSpPr>
        <p:spPr>
          <a:xfrm>
            <a:off x="274320" y="960120"/>
            <a:ext cx="4754880" cy="1600200"/>
          </a:xfrm>
          <a:prstGeom prst="rect">
            <a:avLst/>
          </a:prstGeom>
          <a:solidFill>
            <a:srgbClr val="1E2761"/>
          </a:solidFill>
          <a:ln w="12700">
            <a:solidFill>
              <a:srgbClr val="1E2761"/>
            </a:solidFill>
            <a:prstDash val="solid"/>
          </a:ln>
        </p:spPr>
      </p:sp>
      <p:sp>
        <p:nvSpPr>
          <p:cNvPr id="5" name="Text 3"/>
          <p:cNvSpPr/>
          <p:nvPr/>
        </p:nvSpPr>
        <p:spPr>
          <a:xfrm>
            <a:off x="365760" y="1033272"/>
            <a:ext cx="4480560" cy="34747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Kernel Space</a:t>
            </a:r>
            <a:endParaRPr lang="en-US" sz="1300" dirty="0"/>
          </a:p>
        </p:txBody>
      </p:sp>
      <p:sp>
        <p:nvSpPr>
          <p:cNvPr id="6" name="Text 4"/>
          <p:cNvSpPr/>
          <p:nvPr/>
        </p:nvSpPr>
        <p:spPr>
          <a:xfrm>
            <a:off x="457200" y="1435608"/>
            <a:ext cx="4389120" cy="320040"/>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  process_manager.c — PCB table, syscall handlers</a:t>
            </a:r>
            <a:endParaRPr lang="en-US" sz="1050" dirty="0"/>
          </a:p>
        </p:txBody>
      </p:sp>
      <p:sp>
        <p:nvSpPr>
          <p:cNvPr id="7" name="Text 5"/>
          <p:cNvSpPr/>
          <p:nvPr/>
        </p:nvSpPr>
        <p:spPr>
          <a:xfrm>
            <a:off x="457200" y="1783080"/>
            <a:ext cx="4389120" cy="320040"/>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  thread_manager.c — thread pool, mutex/condvar</a:t>
            </a:r>
            <a:endParaRPr lang="en-US" sz="1050" dirty="0"/>
          </a:p>
        </p:txBody>
      </p:sp>
      <p:sp>
        <p:nvSpPr>
          <p:cNvPr id="8" name="Text 6"/>
          <p:cNvSpPr/>
          <p:nvPr/>
        </p:nvSpPr>
        <p:spPr>
          <a:xfrm>
            <a:off x="457200" y="2130552"/>
            <a:ext cx="4389120" cy="320040"/>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  ipc_module.c — shm_open, pipe()</a:t>
            </a:r>
            <a:endParaRPr lang="en-US" sz="1050" dirty="0"/>
          </a:p>
        </p:txBody>
      </p:sp>
      <p:sp>
        <p:nvSpPr>
          <p:cNvPr id="9" name="Shape 7"/>
          <p:cNvSpPr/>
          <p:nvPr/>
        </p:nvSpPr>
        <p:spPr>
          <a:xfrm>
            <a:off x="274320" y="2788920"/>
            <a:ext cx="4754880" cy="1600200"/>
          </a:xfrm>
          <a:prstGeom prst="rect">
            <a:avLst/>
          </a:prstGeom>
          <a:solidFill>
            <a:srgbClr val="028090"/>
          </a:solidFill>
          <a:ln w="12700">
            <a:solidFill>
              <a:srgbClr val="028090"/>
            </a:solidFill>
            <a:prstDash val="solid"/>
          </a:ln>
        </p:spPr>
      </p:sp>
      <p:sp>
        <p:nvSpPr>
          <p:cNvPr id="10" name="Text 8"/>
          <p:cNvSpPr/>
          <p:nvPr/>
        </p:nvSpPr>
        <p:spPr>
          <a:xfrm>
            <a:off x="365760" y="2862072"/>
            <a:ext cx="4480560" cy="34747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User Space</a:t>
            </a:r>
            <a:endParaRPr lang="en-US" sz="1300" dirty="0"/>
          </a:p>
        </p:txBody>
      </p:sp>
      <p:sp>
        <p:nvSpPr>
          <p:cNvPr id="11" name="Text 9"/>
          <p:cNvSpPr/>
          <p:nvPr/>
        </p:nvSpPr>
        <p:spPr>
          <a:xfrm>
            <a:off x="457200" y="3264408"/>
            <a:ext cx="4389120" cy="320040"/>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  main_sim.c — application driver</a:t>
            </a:r>
            <a:endParaRPr lang="en-US" sz="1050" dirty="0"/>
          </a:p>
        </p:txBody>
      </p:sp>
      <p:sp>
        <p:nvSpPr>
          <p:cNvPr id="12" name="Text 10"/>
          <p:cNvSpPr/>
          <p:nvPr/>
        </p:nvSpPr>
        <p:spPr>
          <a:xfrm>
            <a:off x="457200" y="3611880"/>
            <a:ext cx="4389120" cy="320040"/>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  scheduler_sim.py — scheduling algorithms</a:t>
            </a:r>
            <a:endParaRPr lang="en-US" sz="1050" dirty="0"/>
          </a:p>
        </p:txBody>
      </p:sp>
      <p:sp>
        <p:nvSpPr>
          <p:cNvPr id="13" name="Text 11"/>
          <p:cNvSpPr/>
          <p:nvPr/>
        </p:nvSpPr>
        <p:spPr>
          <a:xfrm>
            <a:off x="457200" y="3959352"/>
            <a:ext cx="4389120" cy="320040"/>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  main_controller.py — orchestration layer</a:t>
            </a:r>
            <a:endParaRPr lang="en-US" sz="10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303520" y="960120"/>
          <a:ext cx="3566160" cy="914400"/>
        </p:xfrm>
        <a:graphic>
          <a:graphicData uri="http://schemas.openxmlformats.org/drawingml/2006/table">
            <a:tbl>
              <a:tblPr/>
              <a:tblGrid>
                <a:gridCol w="1005840"/>
                <a:gridCol w="960120"/>
                <a:gridCol w="1600200"/>
              </a:tblGrid>
              <a:tr h="59436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EduOS Call</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Linux Syscall</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 kernel does</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761"/>
                    </a:solidFill>
                  </a:tcPr>
                </a:tc>
              </a:tr>
              <a:tr h="594360">
                <a:tc>
                  <a:txBody>
                    <a:bodyPr/>
                    <a:lstStyle/>
                    <a:p>
                      <a:pPr indent="0" marL="0">
                        <a:buNone/>
                      </a:pPr>
                      <a:r>
                        <a:rPr lang="en-US" sz="950" dirty="0">
                          <a:solidFill>
                            <a:srgbClr val="1E293B"/>
                          </a:solidFill>
                          <a:latin typeface="Calibri" pitchFamily="34" charset="0"/>
                          <a:ea typeface="Calibri" pitchFamily="34" charset="-122"/>
                          <a:cs typeface="Calibri" pitchFamily="34" charset="-120"/>
                        </a:rPr>
                        <a:t>edu_fork()</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1E293B"/>
                          </a:solidFill>
                          <a:latin typeface="Calibri" pitchFamily="34" charset="0"/>
                          <a:ea typeface="Calibri" pitchFamily="34" charset="-122"/>
                          <a:cs typeface="Calibri" pitchFamily="34" charset="-120"/>
                        </a:rPr>
                        <a:t>fork(2)</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1E293B"/>
                          </a:solidFill>
                          <a:latin typeface="Calibri" pitchFamily="34" charset="0"/>
                          <a:ea typeface="Calibri" pitchFamily="34" charset="-122"/>
                          <a:cs typeface="Calibri" pitchFamily="34" charset="-120"/>
                        </a:rPr>
                        <a:t>Duplicate address space (COW), clone FD table, send SIGCHLD on exit</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594360">
                <a:tc>
                  <a:txBody>
                    <a:bodyPr/>
                    <a:lstStyle/>
                    <a:p>
                      <a:pPr indent="0" marL="0">
                        <a:buNone/>
                      </a:pPr>
                      <a:r>
                        <a:rPr lang="en-US" sz="950" dirty="0">
                          <a:solidFill>
                            <a:srgbClr val="1E293B"/>
                          </a:solidFill>
                          <a:latin typeface="Calibri" pitchFamily="34" charset="0"/>
                          <a:ea typeface="Calibri" pitchFamily="34" charset="-122"/>
                          <a:cs typeface="Calibri" pitchFamily="34" charset="-120"/>
                        </a:rPr>
                        <a:t>edu_exec()</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1E293B"/>
                          </a:solidFill>
                          <a:latin typeface="Calibri" pitchFamily="34" charset="0"/>
                          <a:ea typeface="Calibri" pitchFamily="34" charset="-122"/>
                          <a:cs typeface="Calibri" pitchFamily="34" charset="-120"/>
                        </a:rPr>
                        <a:t>execve(2)</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1E293B"/>
                          </a:solidFill>
                          <a:latin typeface="Calibri" pitchFamily="34" charset="0"/>
                          <a:ea typeface="Calibri" pitchFamily="34" charset="-122"/>
                          <a:cs typeface="Calibri" pitchFamily="34" charset="-120"/>
                        </a:rPr>
                        <a:t>Discard address space, load new ELF, reset stack &amp; heap</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594360">
                <a:tc>
                  <a:txBody>
                    <a:bodyPr/>
                    <a:lstStyle/>
                    <a:p>
                      <a:pPr indent="0" marL="0">
                        <a:buNone/>
                      </a:pPr>
                      <a:r>
                        <a:rPr lang="en-US" sz="950" dirty="0">
                          <a:solidFill>
                            <a:srgbClr val="1E293B"/>
                          </a:solidFill>
                          <a:latin typeface="Calibri" pitchFamily="34" charset="0"/>
                          <a:ea typeface="Calibri" pitchFamily="34" charset="-122"/>
                          <a:cs typeface="Calibri" pitchFamily="34" charset="-120"/>
                        </a:rPr>
                        <a:t>edu_wait()</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1E293B"/>
                          </a:solidFill>
                          <a:latin typeface="Calibri" pitchFamily="34" charset="0"/>
                          <a:ea typeface="Calibri" pitchFamily="34" charset="-122"/>
                          <a:cs typeface="Calibri" pitchFamily="34" charset="-120"/>
                        </a:rPr>
                        <a:t>wait(2)</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1E293B"/>
                          </a:solidFill>
                          <a:latin typeface="Calibri" pitchFamily="34" charset="0"/>
                          <a:ea typeface="Calibri" pitchFamily="34" charset="-122"/>
                          <a:cs typeface="Calibri" pitchFamily="34" charset="-120"/>
                        </a:rPr>
                        <a:t>Block on wait-queue; wake on SIGCHLD from child</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594360">
                <a:tc>
                  <a:txBody>
                    <a:bodyPr/>
                    <a:lstStyle/>
                    <a:p>
                      <a:pPr indent="0" marL="0">
                        <a:buNone/>
                      </a:pPr>
                      <a:r>
                        <a:rPr lang="en-US" sz="950" dirty="0">
                          <a:solidFill>
                            <a:srgbClr val="1E293B"/>
                          </a:solidFill>
                          <a:latin typeface="Calibri" pitchFamily="34" charset="0"/>
                          <a:ea typeface="Calibri" pitchFamily="34" charset="-122"/>
                          <a:cs typeface="Calibri" pitchFamily="34" charset="-120"/>
                        </a:rPr>
                        <a:t>edu_exit()</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1E293B"/>
                          </a:solidFill>
                          <a:latin typeface="Calibri" pitchFamily="34" charset="0"/>
                          <a:ea typeface="Calibri" pitchFamily="34" charset="-122"/>
                          <a:cs typeface="Calibri" pitchFamily="34" charset="-120"/>
                        </a:rPr>
                        <a:t>_exit(2)</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1E293B"/>
                          </a:solidFill>
                          <a:latin typeface="Calibri" pitchFamily="34" charset="0"/>
                          <a:ea typeface="Calibri" pitchFamily="34" charset="-122"/>
                          <a:cs typeface="Calibri" pitchFamily="34" charset="-120"/>
                        </a:rPr>
                        <a:t>Reclaim pages, close FDs, set PCB zombie until wait()</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w="12700">
            <a:solidFill>
              <a:srgbClr val="1E2761"/>
            </a:solidFill>
            <a:prstDash val="solid"/>
          </a:ln>
        </p:spPr>
      </p:sp>
      <p:sp>
        <p:nvSpPr>
          <p:cNvPr id="3" name="Text 1"/>
          <p:cNvSpPr/>
          <p:nvPr/>
        </p:nvSpPr>
        <p:spPr>
          <a:xfrm>
            <a:off x="365760" y="0"/>
            <a:ext cx="8412480" cy="77724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OS Concept: Protection &amp; Virtual Machine</a:t>
            </a:r>
            <a:endParaRPr lang="en-US" sz="2200" dirty="0"/>
          </a:p>
        </p:txBody>
      </p:sp>
      <p:sp>
        <p:nvSpPr>
          <p:cNvPr id="4" name="Shape 2"/>
          <p:cNvSpPr/>
          <p:nvPr/>
        </p:nvSpPr>
        <p:spPr>
          <a:xfrm>
            <a:off x="274320" y="960120"/>
            <a:ext cx="4114800" cy="3749040"/>
          </a:xfrm>
          <a:prstGeom prst="rect">
            <a:avLst/>
          </a:prstGeom>
          <a:solidFill>
            <a:srgbClr val="FFFFFF"/>
          </a:solidFill>
          <a:ln w="12700">
            <a:solidFill>
              <a:srgbClr val="E8EEF7"/>
            </a:solidFill>
            <a:prstDash val="solid"/>
          </a:ln>
          <a:effectLst>
            <a:outerShdw sx="100000" sy="100000" kx="0" ky="0" algn="bl" rotWithShape="0" blurRad="101600" dist="38100" dir="8100000">
              <a:srgbClr val="000000">
                <a:alpha val="18000"/>
              </a:srgbClr>
            </a:outerShdw>
          </a:effectLst>
        </p:spPr>
      </p:sp>
      <p:sp>
        <p:nvSpPr>
          <p:cNvPr id="5" name="Shape 3"/>
          <p:cNvSpPr/>
          <p:nvPr/>
        </p:nvSpPr>
        <p:spPr>
          <a:xfrm>
            <a:off x="274320" y="960120"/>
            <a:ext cx="54864" cy="3749040"/>
          </a:xfrm>
          <a:prstGeom prst="rect">
            <a:avLst/>
          </a:prstGeom>
          <a:solidFill>
            <a:srgbClr val="F59E0B"/>
          </a:solidFill>
          <a:ln w="12700">
            <a:solidFill>
              <a:srgbClr val="F59E0B"/>
            </a:solidFill>
            <a:prstDash val="solid"/>
          </a:ln>
        </p:spPr>
      </p:sp>
      <p:pic>
        <p:nvPicPr>
          <p:cNvPr id="6" name="Image 0" descr="preencoded.png">    </p:cNvPr>
          <p:cNvPicPr>
            <a:picLocks noChangeAspect="1"/>
          </p:cNvPicPr>
          <p:nvPr/>
        </p:nvPicPr>
        <p:blipFill>
          <a:blip r:embed="rId1"/>
          <a:stretch>
            <a:fillRect/>
          </a:stretch>
        </p:blipFill>
        <p:spPr>
          <a:xfrm>
            <a:off x="438912" y="1078992"/>
            <a:ext cx="411480" cy="411480"/>
          </a:xfrm>
          <a:prstGeom prst="rect">
            <a:avLst/>
          </a:prstGeom>
        </p:spPr>
      </p:pic>
      <p:sp>
        <p:nvSpPr>
          <p:cNvPr id="7" name="Text 4"/>
          <p:cNvSpPr/>
          <p:nvPr/>
        </p:nvSpPr>
        <p:spPr>
          <a:xfrm>
            <a:off x="960120" y="1078992"/>
            <a:ext cx="3200400" cy="41148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Protection Rings</a:t>
            </a:r>
            <a:endParaRPr lang="en-US" sz="1400" dirty="0"/>
          </a:p>
        </p:txBody>
      </p:sp>
      <p:sp>
        <p:nvSpPr>
          <p:cNvPr id="8" name="Text 5"/>
          <p:cNvSpPr/>
          <p:nvPr/>
        </p:nvSpPr>
        <p:spPr>
          <a:xfrm>
            <a:off x="411480" y="1572768"/>
            <a:ext cx="3840480" cy="3017520"/>
          </a:xfrm>
          <a:prstGeom prst="rect">
            <a:avLst/>
          </a:prstGeom>
          <a:noFill/>
          <a:ln/>
        </p:spPr>
        <p:txBody>
          <a:bodyPr wrap="square" rtlCol="0" anchor="t"/>
          <a:lstStyle/>
          <a:p>
            <a:pPr indent="0" marL="0">
              <a:spcAft>
                <a:spcPts val="400"/>
              </a:spcAft>
              <a:buNone/>
            </a:pPr>
            <a:r>
              <a:rPr lang="en-US" sz="1100" dirty="0">
                <a:solidFill>
                  <a:srgbClr val="1E293B"/>
                </a:solidFill>
                <a:latin typeface="Calibri" pitchFamily="34" charset="0"/>
                <a:ea typeface="Calibri" pitchFamily="34" charset="-122"/>
                <a:cs typeface="Calibri" pitchFamily="34" charset="-120"/>
              </a:rPr>
              <a:t>x86 CPU has 4 protection rings (0–3). Linux uses Ring 0 (kernel) and Ring 3 (user).
</a:t>
            </a:r>
            <a:pPr indent="0" marL="0">
              <a:spcAft>
                <a:spcPts val="400"/>
              </a:spcAft>
              <a:buNone/>
            </a:pPr>
            <a:r>
              <a:rPr lang="en-US" sz="1100" b="1" dirty="0">
                <a:solidFill>
                  <a:srgbClr val="1E293B"/>
                </a:solidFill>
                <a:latin typeface="Calibri" pitchFamily="34" charset="0"/>
                <a:ea typeface="Calibri" pitchFamily="34" charset="-122"/>
                <a:cs typeface="Calibri" pitchFamily="34" charset="-120"/>
              </a:rPr>
              <a:t>EduOS analogue: </a:t>
            </a:r>
            <a:pPr indent="0" marL="0">
              <a:spcAft>
                <a:spcPts val="400"/>
              </a:spcAft>
              <a:buNone/>
            </a:pPr>
            <a:r>
              <a:rPr lang="en-US" sz="1100" dirty="0">
                <a:solidFill>
                  <a:srgbClr val="1E293B"/>
                </a:solidFill>
                <a:latin typeface="Calibri" pitchFamily="34" charset="0"/>
                <a:ea typeface="Calibri" pitchFamily="34" charset="-122"/>
                <a:cs typeface="Calibri" pitchFamily="34" charset="-120"/>
              </a:rPr>
              <a:t>the owner_id field in SharedMetrics acts as a ring check.
</a:t>
            </a:r>
            <a:pPr indent="0" marL="0">
              <a:spcAft>
                <a:spcPts val="400"/>
              </a:spcAft>
              <a:buNone/>
            </a:pPr>
            <a:r>
              <a:rPr lang="en-US" sz="1100" b="1" dirty="0">
                <a:solidFill>
                  <a:srgbClr val="F59E0B"/>
                </a:solidFill>
                <a:latin typeface="Calibri" pitchFamily="34" charset="0"/>
                <a:ea typeface="Calibri" pitchFamily="34" charset="-122"/>
                <a:cs typeface="Calibri" pitchFamily="34" charset="-120"/>
              </a:rPr>
              <a:t>owner_id = 0 </a:t>
            </a:r>
            <a:pPr indent="0" marL="0">
              <a:spcAft>
                <a:spcPts val="400"/>
              </a:spcAft>
              <a:buNone/>
            </a:pPr>
            <a:r>
              <a:rPr lang="en-US" sz="1100" dirty="0">
                <a:solidFill>
                  <a:srgbClr val="1E293B"/>
                </a:solidFill>
                <a:latin typeface="Calibri" pitchFamily="34" charset="0"/>
                <a:ea typeface="Calibri" pitchFamily="34" charset="-122"/>
                <a:cs typeface="Calibri" pitchFamily="34" charset="-120"/>
              </a:rPr>
              <a:t>→ Ring 0 (privileged, kernel)
</a:t>
            </a:r>
            <a:pPr indent="0" marL="0">
              <a:spcAft>
                <a:spcPts val="400"/>
              </a:spcAft>
              <a:buNone/>
            </a:pPr>
            <a:r>
              <a:rPr lang="en-US" sz="1100" b="1" dirty="0">
                <a:solidFill>
                  <a:srgbClr val="1E293B"/>
                </a:solidFill>
                <a:latin typeface="Calibri" pitchFamily="34" charset="0"/>
                <a:ea typeface="Calibri" pitchFamily="34" charset="-122"/>
                <a:cs typeface="Calibri" pitchFamily="34" charset="-120"/>
              </a:rPr>
              <a:t>owner_id ≠ 0 </a:t>
            </a:r>
            <a:pPr indent="0" marL="0">
              <a:spcAft>
                <a:spcPts val="400"/>
              </a:spcAft>
              <a:buNone/>
            </a:pPr>
            <a:r>
              <a:rPr lang="en-US" sz="1100" dirty="0">
                <a:solidFill>
                  <a:srgbClr val="1E293B"/>
                </a:solidFill>
                <a:latin typeface="Calibri" pitchFamily="34" charset="0"/>
                <a:ea typeface="Calibri" pitchFamily="34" charset="-122"/>
                <a:cs typeface="Calibri" pitchFamily="34" charset="-120"/>
              </a:rPr>
              <a:t>→ Ring 3 (user); can only access memory it owns.
</a:t>
            </a:r>
            <a:pPr indent="0" marL="0">
              <a:spcAft>
                <a:spcPts val="400"/>
              </a:spcAft>
              <a:buNone/>
            </a:pPr>
            <a:r>
              <a:rPr lang="en-US" sz="1100" b="1" dirty="0">
                <a:solidFill>
                  <a:srgbClr val="EF4444"/>
                </a:solidFill>
                <a:latin typeface="Calibri" pitchFamily="34" charset="0"/>
                <a:ea typeface="Calibri" pitchFamily="34" charset="-122"/>
                <a:cs typeface="Calibri" pitchFamily="34" charset="-120"/>
              </a:rPr>
              <a:t>ACCESS DENIED</a:t>
            </a:r>
            <a:pPr indent="0" marL="0">
              <a:spcAft>
                <a:spcPts val="400"/>
              </a:spcAft>
              <a:buNone/>
            </a:pPr>
            <a:r>
              <a:rPr lang="en-US" sz="1100" dirty="0">
                <a:solidFill>
                  <a:srgbClr val="1E293B"/>
                </a:solidFill>
                <a:latin typeface="Calibri" pitchFamily="34" charset="0"/>
                <a:ea typeface="Calibri" pitchFamily="34" charset="-122"/>
                <a:cs typeface="Calibri" pitchFamily="34" charset="-120"/>
              </a:rPr>
              <a:t> is printed when owner_id 99 tries to read a region owned by 42 — mirrors a page-fault segfault.</a:t>
            </a:r>
            <a:endParaRPr lang="en-US" sz="1100" dirty="0"/>
          </a:p>
        </p:txBody>
      </p:sp>
      <p:sp>
        <p:nvSpPr>
          <p:cNvPr id="9" name="Shape 6"/>
          <p:cNvSpPr/>
          <p:nvPr/>
        </p:nvSpPr>
        <p:spPr>
          <a:xfrm>
            <a:off x="4754880" y="960120"/>
            <a:ext cx="4114800" cy="3749040"/>
          </a:xfrm>
          <a:prstGeom prst="rect">
            <a:avLst/>
          </a:prstGeom>
          <a:solidFill>
            <a:srgbClr val="FFFFFF"/>
          </a:solidFill>
          <a:ln w="12700">
            <a:solidFill>
              <a:srgbClr val="E8EEF7"/>
            </a:solidFill>
            <a:prstDash val="solid"/>
          </a:ln>
          <a:effectLst>
            <a:outerShdw sx="100000" sy="100000" kx="0" ky="0" algn="bl" rotWithShape="0" blurRad="101600" dist="38100" dir="8100000">
              <a:srgbClr val="000000">
                <a:alpha val="18000"/>
              </a:srgbClr>
            </a:outerShdw>
          </a:effectLst>
        </p:spPr>
      </p:sp>
      <p:sp>
        <p:nvSpPr>
          <p:cNvPr id="10" name="Shape 7"/>
          <p:cNvSpPr/>
          <p:nvPr/>
        </p:nvSpPr>
        <p:spPr>
          <a:xfrm>
            <a:off x="4754880" y="960120"/>
            <a:ext cx="54864" cy="3749040"/>
          </a:xfrm>
          <a:prstGeom prst="rect">
            <a:avLst/>
          </a:prstGeom>
          <a:solidFill>
            <a:srgbClr val="028090"/>
          </a:solidFill>
          <a:ln w="12700">
            <a:solidFill>
              <a:srgbClr val="028090"/>
            </a:solidFill>
            <a:prstDash val="solid"/>
          </a:ln>
        </p:spPr>
      </p:sp>
      <p:pic>
        <p:nvPicPr>
          <p:cNvPr id="11" name="Image 1" descr="preencoded.png">    </p:cNvPr>
          <p:cNvPicPr>
            <a:picLocks noChangeAspect="1"/>
          </p:cNvPicPr>
          <p:nvPr/>
        </p:nvPicPr>
        <p:blipFill>
          <a:blip r:embed="rId2"/>
          <a:stretch>
            <a:fillRect/>
          </a:stretch>
        </p:blipFill>
        <p:spPr>
          <a:xfrm>
            <a:off x="4919472" y="1078992"/>
            <a:ext cx="411480" cy="411480"/>
          </a:xfrm>
          <a:prstGeom prst="rect">
            <a:avLst/>
          </a:prstGeom>
        </p:spPr>
      </p:pic>
      <p:sp>
        <p:nvSpPr>
          <p:cNvPr id="12" name="Text 8"/>
          <p:cNvSpPr/>
          <p:nvPr/>
        </p:nvSpPr>
        <p:spPr>
          <a:xfrm>
            <a:off x="5486400" y="1078992"/>
            <a:ext cx="3200400" cy="41148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Type-2 Hypervisor Analogy</a:t>
            </a:r>
            <a:endParaRPr lang="en-US" sz="1400" dirty="0"/>
          </a:p>
        </p:txBody>
      </p:sp>
      <p:sp>
        <p:nvSpPr>
          <p:cNvPr id="13" name="Text 9"/>
          <p:cNvSpPr/>
          <p:nvPr/>
        </p:nvSpPr>
        <p:spPr>
          <a:xfrm>
            <a:off x="4892040" y="1572768"/>
            <a:ext cx="3840480" cy="3017520"/>
          </a:xfrm>
          <a:prstGeom prst="rect">
            <a:avLst/>
          </a:prstGeom>
          <a:noFill/>
          <a:ln/>
        </p:spPr>
        <p:txBody>
          <a:bodyPr wrap="square" rtlCol="0" anchor="t"/>
          <a:lstStyle/>
          <a:p>
            <a:pPr indent="0" marL="0">
              <a:spcAft>
                <a:spcPts val="400"/>
              </a:spcAft>
              <a:buNone/>
            </a:pPr>
            <a:r>
              <a:rPr lang="en-US" sz="1100" dirty="0">
                <a:solidFill>
                  <a:srgbClr val="1E293B"/>
                </a:solidFill>
                <a:latin typeface="Calibri" pitchFamily="34" charset="0"/>
                <a:ea typeface="Calibri" pitchFamily="34" charset="-122"/>
                <a:cs typeface="Calibri" pitchFamily="34" charset="-120"/>
              </a:rPr>
              <a:t>A Type-2 hypervisor (e.g. VirtualBox) runs as an application on a host OS. Each guest VM receives a virtualised physical address space backed by host RAM.
</a:t>
            </a:r>
            <a:pPr indent="0" marL="0">
              <a:spcAft>
                <a:spcPts val="400"/>
              </a:spcAft>
              <a:buNone/>
            </a:pPr>
            <a:r>
              <a:rPr lang="en-US" sz="1100" b="1" dirty="0">
                <a:solidFill>
                  <a:srgbClr val="1E293B"/>
                </a:solidFill>
                <a:latin typeface="Calibri" pitchFamily="34" charset="0"/>
                <a:ea typeface="Calibri" pitchFamily="34" charset="-122"/>
                <a:cs typeface="Calibri" pitchFamily="34" charset="-120"/>
              </a:rPr>
              <a:t>EduOS parallel:
</a:t>
            </a:r>
            <a:pPr indent="0" marL="0">
              <a:spcAft>
                <a:spcPts val="400"/>
              </a:spcAft>
              <a:buNone/>
            </a:pPr>
            <a:r>
              <a:rPr lang="en-US" sz="1100" dirty="0">
                <a:solidFill>
                  <a:srgbClr val="1E293B"/>
                </a:solidFill>
                <a:latin typeface="Calibri" pitchFamily="34" charset="0"/>
                <a:ea typeface="Calibri" pitchFamily="34" charset="-122"/>
                <a:cs typeface="Calibri" pitchFamily="34" charset="-120"/>
              </a:rPr>
              <a:t>• PCB table ↔ Hypervisor VM table
</a:t>
            </a:r>
            <a:pPr indent="0" marL="0">
              <a:spcAft>
                <a:spcPts val="400"/>
              </a:spcAft>
              <a:buNone/>
            </a:pPr>
            <a:r>
              <a:rPr lang="en-US" sz="1100" dirty="0">
                <a:solidFill>
                  <a:srgbClr val="1E293B"/>
                </a:solidFill>
                <a:latin typeface="Calibri" pitchFamily="34" charset="0"/>
                <a:ea typeface="Calibri" pitchFamily="34" charset="-122"/>
                <a:cs typeface="Calibri" pitchFamily="34" charset="-120"/>
              </a:rPr>
              <a:t>• memory_req_kb ↔ Guest RAM allocation
</a:t>
            </a:r>
            <a:pPr indent="0" marL="0">
              <a:spcAft>
                <a:spcPts val="400"/>
              </a:spcAft>
              <a:buNone/>
            </a:pPr>
            <a:r>
              <a:rPr lang="en-US" sz="1100" dirty="0">
                <a:solidFill>
                  <a:srgbClr val="1E293B"/>
                </a:solidFill>
                <a:latin typeface="Calibri" pitchFamily="34" charset="0"/>
                <a:ea typeface="Calibri" pitchFamily="34" charset="-122"/>
                <a:cs typeface="Calibri" pitchFamily="34" charset="-120"/>
              </a:rPr>
              <a:t>• edu_fork ↔ Clone VM snapshot
</a:t>
            </a:r>
            <a:pPr indent="0" marL="0">
              <a:spcAft>
                <a:spcPts val="400"/>
              </a:spcAft>
              <a:buNone/>
            </a:pPr>
            <a:r>
              <a:rPr lang="en-US" sz="1100" dirty="0">
                <a:solidFill>
                  <a:srgbClr val="1E293B"/>
                </a:solidFill>
                <a:latin typeface="Calibri" pitchFamily="34" charset="0"/>
                <a:ea typeface="Calibri" pitchFamily="34" charset="-122"/>
                <a:cs typeface="Calibri" pitchFamily="34" charset="-120"/>
              </a:rPr>
              <a:t>• PCB state ↔ VM power state (running/paused/off)
</a:t>
            </a:r>
            <a:pPr indent="0" marL="0">
              <a:spcAft>
                <a:spcPts val="400"/>
              </a:spcAft>
              <a:buNone/>
            </a:pPr>
            <a:r>
              <a:rPr lang="en-US" sz="1100" dirty="0">
                <a:solidFill>
                  <a:srgbClr val="1E293B"/>
                </a:solidFill>
                <a:latin typeface="Calibri" pitchFamily="34" charset="0"/>
                <a:ea typeface="Calibri" pitchFamily="34" charset="-122"/>
                <a:cs typeface="Calibri" pitchFamily="34" charset="-120"/>
              </a:rPr>
              <a:t>Just as guests cannot read each other's memory, processes in a real OS are isolated by the MMU's page tables — each gets its own virtual address space.</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w="12700">
            <a:solidFill>
              <a:srgbClr val="1E2761"/>
            </a:solidFill>
            <a:prstDash val="solid"/>
          </a:ln>
        </p:spPr>
      </p:sp>
      <p:sp>
        <p:nvSpPr>
          <p:cNvPr id="3" name="Text 1"/>
          <p:cNvSpPr/>
          <p:nvPr/>
        </p:nvSpPr>
        <p:spPr>
          <a:xfrm>
            <a:off x="365760" y="0"/>
            <a:ext cx="8412480" cy="77724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Challenges &amp; Solutions</a:t>
            </a:r>
            <a:endParaRPr lang="en-US" sz="2200" dirty="0"/>
          </a:p>
        </p:txBody>
      </p:sp>
      <p:sp>
        <p:nvSpPr>
          <p:cNvPr id="4" name="Shape 2"/>
          <p:cNvSpPr/>
          <p:nvPr/>
        </p:nvSpPr>
        <p:spPr>
          <a:xfrm>
            <a:off x="274320" y="960120"/>
            <a:ext cx="8595360" cy="1261872"/>
          </a:xfrm>
          <a:prstGeom prst="rect">
            <a:avLst/>
          </a:prstGeom>
          <a:solidFill>
            <a:srgbClr val="FFFFFF"/>
          </a:solidFill>
          <a:ln w="12700">
            <a:solidFill>
              <a:srgbClr val="E8EEF7"/>
            </a:solidFill>
            <a:prstDash val="solid"/>
          </a:ln>
          <a:effectLst>
            <a:outerShdw sx="100000" sy="100000" kx="0" ky="0" algn="bl" rotWithShape="0" blurRad="101600" dist="38100" dir="8100000">
              <a:srgbClr val="000000">
                <a:alpha val="18000"/>
              </a:srgbClr>
            </a:outerShdw>
          </a:effectLst>
        </p:spPr>
      </p:sp>
      <p:sp>
        <p:nvSpPr>
          <p:cNvPr id="5" name="Shape 3"/>
          <p:cNvSpPr/>
          <p:nvPr/>
        </p:nvSpPr>
        <p:spPr>
          <a:xfrm>
            <a:off x="274320" y="960120"/>
            <a:ext cx="54864" cy="1261872"/>
          </a:xfrm>
          <a:prstGeom prst="rect">
            <a:avLst/>
          </a:prstGeom>
          <a:solidFill>
            <a:srgbClr val="F59E0B"/>
          </a:solidFill>
          <a:ln w="12700">
            <a:solidFill>
              <a:srgbClr val="F59E0B"/>
            </a:solidFill>
            <a:prstDash val="solid"/>
          </a:ln>
        </p:spPr>
      </p:sp>
      <p:pic>
        <p:nvPicPr>
          <p:cNvPr id="6" name="Image 0" descr="preencoded.png">    </p:cNvPr>
          <p:cNvPicPr>
            <a:picLocks noChangeAspect="1"/>
          </p:cNvPicPr>
          <p:nvPr/>
        </p:nvPicPr>
        <p:blipFill>
          <a:blip r:embed="rId1"/>
          <a:stretch>
            <a:fillRect/>
          </a:stretch>
        </p:blipFill>
        <p:spPr>
          <a:xfrm>
            <a:off x="438912" y="1069848"/>
            <a:ext cx="411480" cy="411480"/>
          </a:xfrm>
          <a:prstGeom prst="rect">
            <a:avLst/>
          </a:prstGeom>
        </p:spPr>
      </p:pic>
      <p:sp>
        <p:nvSpPr>
          <p:cNvPr id="7" name="Text 4"/>
          <p:cNvSpPr/>
          <p:nvPr/>
        </p:nvSpPr>
        <p:spPr>
          <a:xfrm>
            <a:off x="987552" y="1051560"/>
            <a:ext cx="7680960" cy="384048"/>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edu_wait() Infinite Loop</a:t>
            </a:r>
            <a:endParaRPr lang="en-US" sz="1300" dirty="0"/>
          </a:p>
        </p:txBody>
      </p:sp>
      <p:sp>
        <p:nvSpPr>
          <p:cNvPr id="8" name="Text 5"/>
          <p:cNvSpPr/>
          <p:nvPr/>
        </p:nvSpPr>
        <p:spPr>
          <a:xfrm>
            <a:off x="438912" y="1490472"/>
            <a:ext cx="8138160" cy="658368"/>
          </a:xfrm>
          <a:prstGeom prst="rect">
            <a:avLst/>
          </a:prstGeom>
          <a:noFill/>
          <a:ln/>
        </p:spPr>
        <p:txBody>
          <a:bodyPr wrap="square" rtlCol="0" anchor="t"/>
          <a:lstStyle/>
          <a:p>
            <a:pPr indent="0" marL="0">
              <a:buNone/>
            </a:pPr>
            <a:r>
              <a:rPr lang="en-US" sz="1100" dirty="0">
                <a:solidFill>
                  <a:srgbClr val="1E293B"/>
                </a:solidFill>
                <a:latin typeface="Calibri" pitchFamily="34" charset="0"/>
                <a:ea typeface="Calibri" pitchFamily="34" charset="-122"/>
                <a:cs typeface="Calibri" pitchFamily="34" charset="-120"/>
              </a:rPr>
              <a:t>Root cause: init (PID 1) had parent_pid=1 (self-referential). The poll loop never found zero pending children.</a:t>
            </a:r>
            <a:endParaRPr lang="en-US" sz="1100" dirty="0"/>
          </a:p>
          <a:p>
            <a:pPr indent="0" marL="0">
              <a:buNone/>
            </a:pPr>
            <a:r>
              <a:rPr lang="en-US" sz="1100" dirty="0">
                <a:solidFill>
                  <a:srgbClr val="1E293B"/>
                </a:solidFill>
                <a:latin typeface="Calibri" pitchFamily="34" charset="0"/>
                <a:ea typeface="Calibri" pitchFamily="34" charset="-122"/>
                <a:cs typeface="Calibri" pitchFamily="34" charset="-120"/>
              </a:rPr>
              <a:t>Fix: Set parent_pid=0 for the root process; expose next_pid so main() sets it to 2 after inserting init.</a:t>
            </a:r>
            <a:endParaRPr lang="en-US" sz="1100" dirty="0"/>
          </a:p>
        </p:txBody>
      </p:sp>
      <p:sp>
        <p:nvSpPr>
          <p:cNvPr id="9" name="Shape 6"/>
          <p:cNvSpPr/>
          <p:nvPr/>
        </p:nvSpPr>
        <p:spPr>
          <a:xfrm>
            <a:off x="274320" y="2350008"/>
            <a:ext cx="8595360" cy="1261872"/>
          </a:xfrm>
          <a:prstGeom prst="rect">
            <a:avLst/>
          </a:prstGeom>
          <a:solidFill>
            <a:srgbClr val="FFFFFF"/>
          </a:solidFill>
          <a:ln w="12700">
            <a:solidFill>
              <a:srgbClr val="E8EEF7"/>
            </a:solidFill>
            <a:prstDash val="solid"/>
          </a:ln>
          <a:effectLst>
            <a:outerShdw sx="100000" sy="100000" kx="0" ky="0" algn="bl" rotWithShape="0" blurRad="101600" dist="38100" dir="8100000">
              <a:srgbClr val="000000">
                <a:alpha val="18000"/>
              </a:srgbClr>
            </a:outerShdw>
          </a:effectLst>
        </p:spPr>
      </p:sp>
      <p:sp>
        <p:nvSpPr>
          <p:cNvPr id="10" name="Shape 7"/>
          <p:cNvSpPr/>
          <p:nvPr/>
        </p:nvSpPr>
        <p:spPr>
          <a:xfrm>
            <a:off x="274320" y="2350008"/>
            <a:ext cx="54864" cy="1261872"/>
          </a:xfrm>
          <a:prstGeom prst="rect">
            <a:avLst/>
          </a:prstGeom>
          <a:solidFill>
            <a:srgbClr val="028090"/>
          </a:solidFill>
          <a:ln w="12700">
            <a:solidFill>
              <a:srgbClr val="028090"/>
            </a:solidFill>
            <a:prstDash val="solid"/>
          </a:ln>
        </p:spPr>
      </p:sp>
      <p:pic>
        <p:nvPicPr>
          <p:cNvPr id="11" name="Image 1" descr="preencoded.png">    </p:cNvPr>
          <p:cNvPicPr>
            <a:picLocks noChangeAspect="1"/>
          </p:cNvPicPr>
          <p:nvPr/>
        </p:nvPicPr>
        <p:blipFill>
          <a:blip r:embed="rId2"/>
          <a:stretch>
            <a:fillRect/>
          </a:stretch>
        </p:blipFill>
        <p:spPr>
          <a:xfrm>
            <a:off x="438912" y="2459736"/>
            <a:ext cx="411480" cy="411480"/>
          </a:xfrm>
          <a:prstGeom prst="rect">
            <a:avLst/>
          </a:prstGeom>
        </p:spPr>
      </p:pic>
      <p:sp>
        <p:nvSpPr>
          <p:cNvPr id="12" name="Text 8"/>
          <p:cNvSpPr/>
          <p:nvPr/>
        </p:nvSpPr>
        <p:spPr>
          <a:xfrm>
            <a:off x="987552" y="2441448"/>
            <a:ext cx="7680960" cy="384048"/>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Non-deterministic Race Output</a:t>
            </a:r>
            <a:endParaRPr lang="en-US" sz="1300" dirty="0"/>
          </a:p>
        </p:txBody>
      </p:sp>
      <p:sp>
        <p:nvSpPr>
          <p:cNvPr id="13" name="Text 9"/>
          <p:cNvSpPr/>
          <p:nvPr/>
        </p:nvSpPr>
        <p:spPr>
          <a:xfrm>
            <a:off x="438912" y="2880360"/>
            <a:ext cx="8138160" cy="658368"/>
          </a:xfrm>
          <a:prstGeom prst="rect">
            <a:avLst/>
          </a:prstGeom>
          <a:noFill/>
          <a:ln/>
        </p:spPr>
        <p:txBody>
          <a:bodyPr wrap="square" rtlCol="0" anchor="t"/>
          <a:lstStyle/>
          <a:p>
            <a:pPr indent="0" marL="0">
              <a:buNone/>
            </a:pPr>
            <a:r>
              <a:rPr lang="en-US" sz="1100" dirty="0">
                <a:solidFill>
                  <a:srgbClr val="1E293B"/>
                </a:solidFill>
                <a:latin typeface="Calibri" pitchFamily="34" charset="0"/>
                <a:ea typeface="Calibri" pitchFamily="34" charset="-122"/>
                <a:cs typeface="Calibri" pitchFamily="34" charset="-120"/>
              </a:rPr>
              <a:t>Needed to show the race is real, not just 'possibly wrong'. Solution: ran make race five times in a Makefile loop, capturing shared_counter output. Results ranged from 788,902 to 955,001 — conclusive evidence of data corruption.</a:t>
            </a:r>
            <a:endParaRPr lang="en-US" sz="1100" dirty="0"/>
          </a:p>
        </p:txBody>
      </p:sp>
      <p:sp>
        <p:nvSpPr>
          <p:cNvPr id="14" name="Shape 10"/>
          <p:cNvSpPr/>
          <p:nvPr/>
        </p:nvSpPr>
        <p:spPr>
          <a:xfrm>
            <a:off x="274320" y="3739896"/>
            <a:ext cx="8595360" cy="1261872"/>
          </a:xfrm>
          <a:prstGeom prst="rect">
            <a:avLst/>
          </a:prstGeom>
          <a:solidFill>
            <a:srgbClr val="FFFFFF"/>
          </a:solidFill>
          <a:ln w="12700">
            <a:solidFill>
              <a:srgbClr val="E8EEF7"/>
            </a:solidFill>
            <a:prstDash val="solid"/>
          </a:ln>
          <a:effectLst>
            <a:outerShdw sx="100000" sy="100000" kx="0" ky="0" algn="bl" rotWithShape="0" blurRad="101600" dist="38100" dir="8100000">
              <a:srgbClr val="000000">
                <a:alpha val="18000"/>
              </a:srgbClr>
            </a:outerShdw>
          </a:effectLst>
        </p:spPr>
      </p:sp>
      <p:sp>
        <p:nvSpPr>
          <p:cNvPr id="15" name="Shape 11"/>
          <p:cNvSpPr/>
          <p:nvPr/>
        </p:nvSpPr>
        <p:spPr>
          <a:xfrm>
            <a:off x="274320" y="3739896"/>
            <a:ext cx="54864" cy="1261872"/>
          </a:xfrm>
          <a:prstGeom prst="rect">
            <a:avLst/>
          </a:prstGeom>
          <a:solidFill>
            <a:srgbClr val="028090"/>
          </a:solidFill>
          <a:ln w="12700">
            <a:solidFill>
              <a:srgbClr val="028090"/>
            </a:solidFill>
            <a:prstDash val="solid"/>
          </a:ln>
        </p:spPr>
      </p:sp>
      <p:pic>
        <p:nvPicPr>
          <p:cNvPr id="16" name="Image 2" descr="preencoded.png">    </p:cNvPr>
          <p:cNvPicPr>
            <a:picLocks noChangeAspect="1"/>
          </p:cNvPicPr>
          <p:nvPr/>
        </p:nvPicPr>
        <p:blipFill>
          <a:blip r:embed="rId3"/>
          <a:stretch>
            <a:fillRect/>
          </a:stretch>
        </p:blipFill>
        <p:spPr>
          <a:xfrm>
            <a:off x="438912" y="3849624"/>
            <a:ext cx="411480" cy="411480"/>
          </a:xfrm>
          <a:prstGeom prst="rect">
            <a:avLst/>
          </a:prstGeom>
        </p:spPr>
      </p:pic>
      <p:sp>
        <p:nvSpPr>
          <p:cNvPr id="17" name="Text 12"/>
          <p:cNvSpPr/>
          <p:nvPr/>
        </p:nvSpPr>
        <p:spPr>
          <a:xfrm>
            <a:off x="987552" y="3831336"/>
            <a:ext cx="7680960" cy="384048"/>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Round Robin Ready Queue Ordering</a:t>
            </a:r>
            <a:endParaRPr lang="en-US" sz="1300" dirty="0"/>
          </a:p>
        </p:txBody>
      </p:sp>
      <p:sp>
        <p:nvSpPr>
          <p:cNvPr id="18" name="Text 13"/>
          <p:cNvSpPr/>
          <p:nvPr/>
        </p:nvSpPr>
        <p:spPr>
          <a:xfrm>
            <a:off x="438912" y="4270248"/>
            <a:ext cx="8138160" cy="658368"/>
          </a:xfrm>
          <a:prstGeom prst="rect">
            <a:avLst/>
          </a:prstGeom>
          <a:noFill/>
          <a:ln/>
        </p:spPr>
        <p:txBody>
          <a:bodyPr wrap="square" rtlCol="0" anchor="t"/>
          <a:lstStyle/>
          <a:p>
            <a:pPr indent="0" marL="0">
              <a:buNone/>
            </a:pPr>
            <a:r>
              <a:rPr lang="en-US" sz="1100" dirty="0">
                <a:solidFill>
                  <a:srgbClr val="1E293B"/>
                </a:solidFill>
                <a:latin typeface="Calibri" pitchFamily="34" charset="0"/>
                <a:ea typeface="Calibri" pitchFamily="34" charset="-122"/>
                <a:cs typeface="Calibri" pitchFamily="34" charset="-120"/>
              </a:rPr>
              <a:t>Processes arriving mid-slice were being enqueued before the preempted process rejoined, violating FIFO order. Fix: enqueue new arrivals first (they arrived earlier), then append the preempted process to the tail.</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w="12700">
            <a:solidFill>
              <a:srgbClr val="1E2761"/>
            </a:solidFill>
            <a:prstDash val="solid"/>
          </a:ln>
        </p:spPr>
      </p:sp>
      <p:sp>
        <p:nvSpPr>
          <p:cNvPr id="3" name="Text 1"/>
          <p:cNvSpPr/>
          <p:nvPr/>
        </p:nvSpPr>
        <p:spPr>
          <a:xfrm>
            <a:off x="365760" y="0"/>
            <a:ext cx="8412480" cy="77724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GitHub Summary</a:t>
            </a:r>
            <a:endParaRPr lang="en-US" sz="2200" dirty="0"/>
          </a:p>
        </p:txBody>
      </p:sp>
      <p:sp>
        <p:nvSpPr>
          <p:cNvPr id="4" name="Shape 2"/>
          <p:cNvSpPr/>
          <p:nvPr/>
        </p:nvSpPr>
        <p:spPr>
          <a:xfrm>
            <a:off x="274320" y="960120"/>
            <a:ext cx="4206240" cy="3749040"/>
          </a:xfrm>
          <a:prstGeom prst="rect">
            <a:avLst/>
          </a:prstGeom>
          <a:solidFill>
            <a:srgbClr val="FFFFFF"/>
          </a:solidFill>
          <a:ln w="12700">
            <a:solidFill>
              <a:srgbClr val="E8EEF7"/>
            </a:solidFill>
            <a:prstDash val="solid"/>
          </a:ln>
          <a:effectLst>
            <a:outerShdw sx="100000" sy="100000" kx="0" ky="0" algn="bl" rotWithShape="0" blurRad="101600" dist="38100" dir="8100000">
              <a:srgbClr val="000000">
                <a:alpha val="18000"/>
              </a:srgbClr>
            </a:outerShdw>
          </a:effectLst>
        </p:spPr>
      </p:sp>
      <p:sp>
        <p:nvSpPr>
          <p:cNvPr id="5" name="Shape 3"/>
          <p:cNvSpPr/>
          <p:nvPr/>
        </p:nvSpPr>
        <p:spPr>
          <a:xfrm>
            <a:off x="274320" y="960120"/>
            <a:ext cx="54864" cy="3749040"/>
          </a:xfrm>
          <a:prstGeom prst="rect">
            <a:avLst/>
          </a:prstGeom>
          <a:solidFill>
            <a:srgbClr val="028090"/>
          </a:solidFill>
          <a:ln w="12700">
            <a:solidFill>
              <a:srgbClr val="028090"/>
            </a:solidFill>
            <a:prstDash val="solid"/>
          </a:ln>
        </p:spPr>
      </p:sp>
      <p:pic>
        <p:nvPicPr>
          <p:cNvPr id="6" name="Image 0" descr="preencoded.png">    </p:cNvPr>
          <p:cNvPicPr>
            <a:picLocks noChangeAspect="1"/>
          </p:cNvPicPr>
          <p:nvPr/>
        </p:nvPicPr>
        <p:blipFill>
          <a:blip r:embed="rId1"/>
          <a:stretch>
            <a:fillRect/>
          </a:stretch>
        </p:blipFill>
        <p:spPr>
          <a:xfrm>
            <a:off x="438912" y="1078992"/>
            <a:ext cx="411480" cy="411480"/>
          </a:xfrm>
          <a:prstGeom prst="rect">
            <a:avLst/>
          </a:prstGeom>
        </p:spPr>
      </p:pic>
      <p:sp>
        <p:nvSpPr>
          <p:cNvPr id="7" name="Text 4"/>
          <p:cNvSpPr/>
          <p:nvPr/>
        </p:nvSpPr>
        <p:spPr>
          <a:xfrm>
            <a:off x="960120" y="1078992"/>
            <a:ext cx="3291840" cy="41148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Repository Details</a:t>
            </a:r>
            <a:endParaRPr lang="en-US" sz="1400" dirty="0"/>
          </a:p>
        </p:txBody>
      </p:sp>
      <p:sp>
        <p:nvSpPr>
          <p:cNvPr id="8" name="Text 5"/>
          <p:cNvSpPr/>
          <p:nvPr/>
        </p:nvSpPr>
        <p:spPr>
          <a:xfrm>
            <a:off x="411480" y="1572768"/>
            <a:ext cx="3840480" cy="2926080"/>
          </a:xfrm>
          <a:prstGeom prst="rect">
            <a:avLst/>
          </a:prstGeom>
          <a:noFill/>
          <a:ln/>
        </p:spPr>
        <p:txBody>
          <a:bodyPr wrap="square" rtlCol="0" anchor="t"/>
          <a:lstStyle/>
          <a:p>
            <a:pPr indent="0" marL="0">
              <a:spcAft>
                <a:spcPts val="500"/>
              </a:spcAft>
              <a:buNone/>
            </a:pPr>
            <a:r>
              <a:rPr lang="en-US" sz="1150" b="1" dirty="0">
                <a:solidFill>
                  <a:srgbClr val="1E293B"/>
                </a:solidFill>
                <a:latin typeface="Calibri" pitchFamily="34" charset="0"/>
                <a:ea typeface="Calibri" pitchFamily="34" charset="-122"/>
                <a:cs typeface="Calibri" pitchFamily="34" charset="-120"/>
              </a:rPr>
              <a:t>Name: </a:t>
            </a:r>
            <a:pPr indent="0" marL="0">
              <a:spcAft>
                <a:spcPts val="500"/>
              </a:spcAft>
              <a:buNone/>
            </a:pPr>
            <a:r>
              <a:rPr lang="en-US" sz="1150" dirty="0">
                <a:solidFill>
                  <a:srgbClr val="1E293B"/>
                </a:solidFill>
                <a:latin typeface="Calibri" pitchFamily="34" charset="0"/>
                <a:ea typeface="Calibri" pitchFamily="34" charset="-122"/>
                <a:cs typeface="Calibri" pitchFamily="34" charset="-120"/>
              </a:rPr>
              <a:t>OperatingSystem Assignment
</a:t>
            </a:r>
            <a:pPr indent="0" marL="0">
              <a:spcAft>
                <a:spcPts val="500"/>
              </a:spcAft>
              <a:buNone/>
            </a:pPr>
            <a:r>
              <a:rPr lang="en-US" sz="1150" b="1" dirty="0">
                <a:solidFill>
                  <a:srgbClr val="1E293B"/>
                </a:solidFill>
                <a:latin typeface="Calibri" pitchFamily="34" charset="0"/>
                <a:ea typeface="Calibri" pitchFamily="34" charset="-122"/>
                <a:cs typeface="Calibri" pitchFamily="34" charset="-120"/>
              </a:rPr>
              <a:t>Visibility: </a:t>
            </a:r>
            <a:pPr indent="0" marL="0">
              <a:spcAft>
                <a:spcPts val="500"/>
              </a:spcAft>
              <a:buNone/>
            </a:pPr>
            <a:r>
              <a:rPr lang="en-US" sz="1150" dirty="0">
                <a:solidFill>
                  <a:srgbClr val="1E293B"/>
                </a:solidFill>
                <a:latin typeface="Calibri" pitchFamily="34" charset="0"/>
                <a:ea typeface="Calibri" pitchFamily="34" charset="-122"/>
                <a:cs typeface="Calibri" pitchFamily="34" charset="-120"/>
              </a:rPr>
              <a:t>Public (or private + collaborator)
</a:t>
            </a:r>
            <a:pPr indent="0" marL="0">
              <a:spcAft>
                <a:spcPts val="500"/>
              </a:spcAft>
              <a:buNone/>
            </a:pPr>
            <a:r>
              <a:rPr lang="en-US" sz="1150" b="1" dirty="0">
                <a:solidFill>
                  <a:srgbClr val="1E293B"/>
                </a:solidFill>
                <a:latin typeface="Calibri" pitchFamily="34" charset="0"/>
                <a:ea typeface="Calibri" pitchFamily="34" charset="-122"/>
                <a:cs typeface="Calibri" pitchFamily="34" charset="-120"/>
              </a:rPr>
              <a:t>Commits: </a:t>
            </a:r>
            <a:pPr indent="0" marL="0">
              <a:spcAft>
                <a:spcPts val="500"/>
              </a:spcAft>
              <a:buNone/>
            </a:pPr>
            <a:r>
              <a:rPr lang="en-US" sz="1150" dirty="0">
                <a:solidFill>
                  <a:srgbClr val="1E293B"/>
                </a:solidFill>
                <a:latin typeface="Calibri" pitchFamily="34" charset="0"/>
                <a:ea typeface="Calibri" pitchFamily="34" charset="-122"/>
                <a:cs typeface="Calibri" pitchFamily="34" charset="-120"/>
              </a:rPr>
              <a:t>≥ 10 meaningful commits
</a:t>
            </a:r>
            <a:pPr indent="0" marL="0">
              <a:spcAft>
                <a:spcPts val="500"/>
              </a:spcAft>
              <a:buNone/>
            </a:pPr>
            <a:r>
              <a:rPr lang="en-US" sz="1150" b="1" dirty="0">
                <a:solidFill>
                  <a:srgbClr val="1E293B"/>
                </a:solidFill>
                <a:latin typeface="Calibri" pitchFamily="34" charset="0"/>
                <a:ea typeface="Calibri" pitchFamily="34" charset="-122"/>
                <a:cs typeface="Calibri" pitchFamily="34" charset="-120"/>
              </a:rPr>
              <a:t>Branching: </a:t>
            </a:r>
            <a:pPr indent="0" marL="0">
              <a:spcAft>
                <a:spcPts val="500"/>
              </a:spcAft>
              <a:buNone/>
            </a:pPr>
            <a:r>
              <a:rPr lang="en-US" sz="1150" dirty="0">
                <a:solidFill>
                  <a:srgbClr val="1E293B"/>
                </a:solidFill>
                <a:latin typeface="Calibri" pitchFamily="34" charset="0"/>
                <a:ea typeface="Calibri" pitchFamily="34" charset="-122"/>
                <a:cs typeface="Calibri" pitchFamily="34" charset="-120"/>
              </a:rPr>
              <a:t>main branch only (feature branches for IPC &amp; scheduler)
</a:t>
            </a:r>
            <a:pPr indent="0" marL="0">
              <a:spcAft>
                <a:spcPts val="500"/>
              </a:spcAft>
              <a:buNone/>
            </a:pPr>
            <a:r>
              <a:rPr lang="en-US" sz="1150" b="1" dirty="0">
                <a:solidFill>
                  <a:srgbClr val="1E293B"/>
                </a:solidFill>
                <a:latin typeface="Calibri" pitchFamily="34" charset="0"/>
                <a:ea typeface="Calibri" pitchFamily="34" charset="-122"/>
                <a:cs typeface="Calibri" pitchFamily="34" charset="-120"/>
              </a:rPr>
              <a:t>README: </a:t>
            </a:r>
            <a:pPr indent="0" marL="0">
              <a:spcAft>
                <a:spcPts val="500"/>
              </a:spcAft>
              <a:buNone/>
            </a:pPr>
            <a:r>
              <a:rPr lang="en-US" sz="1150" dirty="0">
                <a:solidFill>
                  <a:srgbClr val="1E293B"/>
                </a:solidFill>
                <a:latin typeface="Calibri" pitchFamily="34" charset="0"/>
                <a:ea typeface="Calibri" pitchFamily="34" charset="-122"/>
                <a:cs typeface="Calibri" pitchFamily="34" charset="-120"/>
              </a:rPr>
              <a:t>All required sections — build steps, screenshots, valgrind output, challenges</a:t>
            </a:r>
            <a:endParaRPr lang="en-US" sz="1150" dirty="0"/>
          </a:p>
        </p:txBody>
      </p:sp>
      <p:sp>
        <p:nvSpPr>
          <p:cNvPr id="9" name="Shape 6"/>
          <p:cNvSpPr/>
          <p:nvPr/>
        </p:nvSpPr>
        <p:spPr>
          <a:xfrm>
            <a:off x="4754880" y="960120"/>
            <a:ext cx="4114800" cy="3749040"/>
          </a:xfrm>
          <a:prstGeom prst="rect">
            <a:avLst/>
          </a:prstGeom>
          <a:solidFill>
            <a:srgbClr val="FFFFFF"/>
          </a:solidFill>
          <a:ln w="12700">
            <a:solidFill>
              <a:srgbClr val="E8EEF7"/>
            </a:solidFill>
            <a:prstDash val="solid"/>
          </a:ln>
          <a:effectLst>
            <a:outerShdw sx="100000" sy="100000" kx="0" ky="0" algn="bl" rotWithShape="0" blurRad="101600" dist="38100" dir="8100000">
              <a:srgbClr val="000000">
                <a:alpha val="18000"/>
              </a:srgbClr>
            </a:outerShdw>
          </a:effectLst>
        </p:spPr>
      </p:sp>
      <p:sp>
        <p:nvSpPr>
          <p:cNvPr id="10" name="Shape 7"/>
          <p:cNvSpPr/>
          <p:nvPr/>
        </p:nvSpPr>
        <p:spPr>
          <a:xfrm>
            <a:off x="4754880" y="960120"/>
            <a:ext cx="54864" cy="3749040"/>
          </a:xfrm>
          <a:prstGeom prst="rect">
            <a:avLst/>
          </a:prstGeom>
          <a:solidFill>
            <a:srgbClr val="1E2761"/>
          </a:solidFill>
          <a:ln w="12700">
            <a:solidFill>
              <a:srgbClr val="1E2761"/>
            </a:solidFill>
            <a:prstDash val="solid"/>
          </a:ln>
        </p:spPr>
      </p:sp>
      <p:pic>
        <p:nvPicPr>
          <p:cNvPr id="11" name="Image 1" descr="preencoded.png">    </p:cNvPr>
          <p:cNvPicPr>
            <a:picLocks noChangeAspect="1"/>
          </p:cNvPicPr>
          <p:nvPr/>
        </p:nvPicPr>
        <p:blipFill>
          <a:blip r:embed="rId2"/>
          <a:stretch>
            <a:fillRect/>
          </a:stretch>
        </p:blipFill>
        <p:spPr>
          <a:xfrm>
            <a:off x="4919472" y="1078992"/>
            <a:ext cx="411480" cy="411480"/>
          </a:xfrm>
          <a:prstGeom prst="rect">
            <a:avLst/>
          </a:prstGeom>
        </p:spPr>
      </p:pic>
      <p:sp>
        <p:nvSpPr>
          <p:cNvPr id="12" name="Text 8"/>
          <p:cNvSpPr/>
          <p:nvPr/>
        </p:nvSpPr>
        <p:spPr>
          <a:xfrm>
            <a:off x="5486400" y="1078992"/>
            <a:ext cx="3200400" cy="4114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git log --oneline (last 15)</a:t>
            </a:r>
            <a:endParaRPr lang="en-US" sz="1300" dirty="0"/>
          </a:p>
        </p:txBody>
      </p:sp>
      <p:sp>
        <p:nvSpPr>
          <p:cNvPr id="13" name="Text 9"/>
          <p:cNvSpPr/>
          <p:nvPr/>
        </p:nvSpPr>
        <p:spPr>
          <a:xfrm>
            <a:off x="4892040" y="1572768"/>
            <a:ext cx="3840480" cy="2971800"/>
          </a:xfrm>
          <a:prstGeom prst="rect">
            <a:avLst/>
          </a:prstGeom>
          <a:noFill/>
          <a:ln/>
        </p:spPr>
        <p:txBody>
          <a:bodyPr wrap="square" rtlCol="0" anchor="t"/>
          <a:lstStyle/>
          <a:p>
            <a:pPr indent="0" marL="0">
              <a:buNone/>
            </a:pPr>
            <a:r>
              <a:rPr lang="en-US" sz="750" dirty="0">
                <a:solidFill>
                  <a:srgbClr val="CADCFC"/>
                </a:solidFill>
                <a:latin typeface="Consolas" pitchFamily="34" charset="0"/>
                <a:ea typeface="Consolas" pitchFamily="34" charset="-122"/>
                <a:cs typeface="Consolas" pitchFamily="34" charset="-120"/>
              </a:rPr>
              <a:t>a3f91b2  Add main_controller.py end-to-end pipeline</a:t>
            </a:r>
            <a:endParaRPr lang="en-US" sz="750" dirty="0"/>
          </a:p>
          <a:p>
            <a:pPr indent="0" marL="0">
              <a:buNone/>
            </a:pPr>
            <a:r>
              <a:rPr lang="en-US" sz="750" dirty="0">
                <a:solidFill>
                  <a:srgbClr val="CADCFC"/>
                </a:solidFill>
                <a:latin typeface="Consolas" pitchFamily="34" charset="0"/>
                <a:ea typeface="Consolas" pitchFamily="34" charset="-122"/>
                <a:cs typeface="Consolas" pitchFamily="34" charset="-120"/>
              </a:rPr>
              <a:t>d84c710  Implement Round Robin scheduler + Gantt charts</a:t>
            </a:r>
            <a:endParaRPr lang="en-US" sz="750" dirty="0"/>
          </a:p>
          <a:p>
            <a:pPr indent="0" marL="0">
              <a:buNone/>
            </a:pPr>
            <a:r>
              <a:rPr lang="en-US" sz="750" dirty="0">
                <a:solidFill>
                  <a:srgbClr val="CADCFC"/>
                </a:solidFill>
                <a:latin typeface="Consolas" pitchFamily="34" charset="0"/>
                <a:ea typeface="Consolas" pitchFamily="34" charset="-122"/>
                <a:cs typeface="Consolas" pitchFamily="34" charset="-120"/>
              </a:rPr>
              <a:t>f219ae3  Add Priority scheduling with ageing logic</a:t>
            </a:r>
            <a:endParaRPr lang="en-US" sz="750" dirty="0"/>
          </a:p>
          <a:p>
            <a:pPr indent="0" marL="0">
              <a:buNone/>
            </a:pPr>
            <a:r>
              <a:rPr lang="en-US" sz="750" dirty="0">
                <a:solidFill>
                  <a:srgbClr val="CADCFC"/>
                </a:solidFill>
                <a:latin typeface="Consolas" pitchFamily="34" charset="0"/>
                <a:ea typeface="Consolas" pitchFamily="34" charset="-122"/>
                <a:cs typeface="Consolas" pitchFamily="34" charset="-120"/>
              </a:rPr>
              <a:t>b501d6e  Implement FCFS and SJF algorithms</a:t>
            </a:r>
            <a:endParaRPr lang="en-US" sz="750" dirty="0"/>
          </a:p>
          <a:p>
            <a:pPr indent="0" marL="0">
              <a:buNone/>
            </a:pPr>
            <a:r>
              <a:rPr lang="en-US" sz="750" dirty="0">
                <a:solidFill>
                  <a:srgbClr val="CADCFC"/>
                </a:solidFill>
                <a:latin typeface="Consolas" pitchFamily="34" charset="0"/>
                <a:ea typeface="Consolas" pitchFamily="34" charset="-122"/>
                <a:cs typeface="Consolas" pitchFamily="34" charset="-120"/>
              </a:rPr>
              <a:t>9e2c448  Fix edu_wait infinite loop (parent_pid=0 for init)</a:t>
            </a:r>
            <a:endParaRPr lang="en-US" sz="750" dirty="0"/>
          </a:p>
          <a:p>
            <a:pPr indent="0" marL="0">
              <a:buNone/>
            </a:pPr>
            <a:r>
              <a:rPr lang="en-US" sz="750" dirty="0">
                <a:solidFill>
                  <a:srgbClr val="CADCFC"/>
                </a:solidFill>
                <a:latin typeface="Consolas" pitchFamily="34" charset="0"/>
                <a:ea typeface="Consolas" pitchFamily="34" charset="-122"/>
                <a:cs typeface="Consolas" pitchFamily="34" charset="-120"/>
              </a:rPr>
              <a:t>77ab312  Add ipc_pipe_demo anonymous pipe IPC</a:t>
            </a:r>
            <a:endParaRPr lang="en-US" sz="750" dirty="0"/>
          </a:p>
          <a:p>
            <a:pPr indent="0" marL="0">
              <a:buNone/>
            </a:pPr>
            <a:r>
              <a:rPr lang="en-US" sz="750" dirty="0">
                <a:solidFill>
                  <a:srgbClr val="CADCFC"/>
                </a:solidFill>
                <a:latin typeface="Consolas" pitchFamily="34" charset="0"/>
                <a:ea typeface="Consolas" pitchFamily="34" charset="-122"/>
                <a:cs typeface="Consolas" pitchFamily="34" charset="-120"/>
              </a:rPr>
              <a:t>c93f021  Add ipc_shared_memory_demo + access control</a:t>
            </a:r>
            <a:endParaRPr lang="en-US" sz="750" dirty="0"/>
          </a:p>
          <a:p>
            <a:pPr indent="0" marL="0">
              <a:buNone/>
            </a:pPr>
            <a:r>
              <a:rPr lang="en-US" sz="750" dirty="0">
                <a:solidFill>
                  <a:srgbClr val="CADCFC"/>
                </a:solidFill>
                <a:latin typeface="Consolas" pitchFamily="34" charset="0"/>
                <a:ea typeface="Consolas" pitchFamily="34" charset="-122"/>
                <a:cs typeface="Consolas" pitchFamily="34" charset="-120"/>
              </a:rPr>
              <a:t>4d1e857  Implement producer-consumer with semaphores</a:t>
            </a:r>
            <a:endParaRPr lang="en-US" sz="750" dirty="0"/>
          </a:p>
          <a:p>
            <a:pPr indent="0" marL="0">
              <a:buNone/>
            </a:pPr>
            <a:r>
              <a:rPr lang="en-US" sz="750" dirty="0">
                <a:solidFill>
                  <a:srgbClr val="CADCFC"/>
                </a:solidFill>
                <a:latin typeface="Consolas" pitchFamily="34" charset="0"/>
                <a:ea typeface="Consolas" pitchFamily="34" charset="-122"/>
                <a:cs typeface="Consolas" pitchFamily="34" charset="-120"/>
              </a:rPr>
              <a:t>21fc9a9  Fix race condition with pthread_mutex (make fixed)</a:t>
            </a:r>
            <a:endParaRPr lang="en-US" sz="750" dirty="0"/>
          </a:p>
          <a:p>
            <a:pPr indent="0" marL="0">
              <a:buNone/>
            </a:pPr>
            <a:r>
              <a:rPr lang="en-US" sz="750" dirty="0">
                <a:solidFill>
                  <a:srgbClr val="CADCFC"/>
                </a:solidFill>
                <a:latin typeface="Consolas" pitchFamily="34" charset="0"/>
                <a:ea typeface="Consolas" pitchFamily="34" charset="-122"/>
                <a:cs typeface="Consolas" pitchFamily="34" charset="-120"/>
              </a:rPr>
              <a:t>e85b231  Demo race condition without mutex (make race)</a:t>
            </a:r>
            <a:endParaRPr lang="en-US" sz="750" dirty="0"/>
          </a:p>
          <a:p>
            <a:pPr indent="0" marL="0">
              <a:buNone/>
            </a:pPr>
            <a:r>
              <a:rPr lang="en-US" sz="750" dirty="0">
                <a:solidFill>
                  <a:srgbClr val="CADCFC"/>
                </a:solidFill>
                <a:latin typeface="Consolas" pitchFamily="34" charset="0"/>
                <a:ea typeface="Consolas" pitchFamily="34" charset="-122"/>
                <a:cs typeface="Consolas" pitchFamily="34" charset="-120"/>
              </a:rPr>
              <a:t>6a40f81  Add Many-to-One threading model (setjmp/longjmp)</a:t>
            </a:r>
            <a:endParaRPr lang="en-US" sz="750" dirty="0"/>
          </a:p>
          <a:p>
            <a:pPr indent="0" marL="0">
              <a:buNone/>
            </a:pPr>
            <a:r>
              <a:rPr lang="en-US" sz="750" dirty="0">
                <a:solidFill>
                  <a:srgbClr val="CADCFC"/>
                </a:solidFill>
                <a:latin typeface="Consolas" pitchFamily="34" charset="0"/>
                <a:ea typeface="Consolas" pitchFamily="34" charset="-122"/>
                <a:cs typeface="Consolas" pitchFamily="34" charset="-120"/>
              </a:rPr>
              <a:t>3b7d194  Implement One-to-One model parallel sum demo</a:t>
            </a:r>
            <a:endParaRPr lang="en-US" sz="750" dirty="0"/>
          </a:p>
          <a:p>
            <a:pPr indent="0" marL="0">
              <a:buNone/>
            </a:pPr>
            <a:r>
              <a:rPr lang="en-US" sz="750" dirty="0">
                <a:solidFill>
                  <a:srgbClr val="CADCFC"/>
                </a:solidFill>
                <a:latin typeface="Consolas" pitchFamily="34" charset="0"/>
                <a:ea typeface="Consolas" pitchFamily="34" charset="-122"/>
                <a:cs typeface="Consolas" pitchFamily="34" charset="-120"/>
              </a:rPr>
              <a:t>88cc502  Add thread pool with condvar + graceful shutdown</a:t>
            </a:r>
            <a:endParaRPr lang="en-US" sz="750" dirty="0"/>
          </a:p>
          <a:p>
            <a:pPr indent="0" marL="0">
              <a:buNone/>
            </a:pPr>
            <a:r>
              <a:rPr lang="en-US" sz="750" dirty="0">
                <a:solidFill>
                  <a:srgbClr val="CADCFC"/>
                </a:solidFill>
                <a:latin typeface="Consolas" pitchFamily="34" charset="0"/>
                <a:ea typeface="Consolas" pitchFamily="34" charset="-122"/>
                <a:cs typeface="Consolas" pitchFamily="34" charset="-120"/>
              </a:rPr>
              <a:t>f10e973  Implement PCB JSON serialiser in C (no library)</a:t>
            </a:r>
            <a:endParaRPr lang="en-US" sz="750" dirty="0"/>
          </a:p>
          <a:p>
            <a:pPr indent="0" marL="0">
              <a:buNone/>
            </a:pPr>
            <a:r>
              <a:rPr lang="en-US" sz="750" dirty="0">
                <a:solidFill>
                  <a:srgbClr val="CADCFC"/>
                </a:solidFill>
                <a:latin typeface="Consolas" pitchFamily="34" charset="0"/>
                <a:ea typeface="Consolas" pitchFamily="34" charset="-122"/>
                <a:cs typeface="Consolas" pitchFamily="34" charset="-120"/>
              </a:rPr>
              <a:t>2d5a610  Initial commit: PCB struct + edu_fork/exec/wait/exit</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7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w="12700">
            <a:solidFill>
              <a:srgbClr val="1E2761"/>
            </a:solidFill>
            <a:prstDash val="solid"/>
          </a:ln>
        </p:spPr>
      </p:sp>
      <p:sp>
        <p:nvSpPr>
          <p:cNvPr id="3" name="Text 1"/>
          <p:cNvSpPr/>
          <p:nvPr/>
        </p:nvSpPr>
        <p:spPr>
          <a:xfrm>
            <a:off x="365760" y="0"/>
            <a:ext cx="8412480" cy="77724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Submission Checklist</a:t>
            </a:r>
            <a:endParaRPr lang="en-US" sz="2200" dirty="0"/>
          </a:p>
        </p:txBody>
      </p:sp>
      <p:sp>
        <p:nvSpPr>
          <p:cNvPr id="4" name="Shape 2"/>
          <p:cNvSpPr/>
          <p:nvPr/>
        </p:nvSpPr>
        <p:spPr>
          <a:xfrm>
            <a:off x="274320" y="960120"/>
            <a:ext cx="4114800" cy="3749040"/>
          </a:xfrm>
          <a:prstGeom prst="rect">
            <a:avLst/>
          </a:prstGeom>
          <a:solidFill>
            <a:srgbClr val="FFFFFF"/>
          </a:solidFill>
          <a:ln w="12700">
            <a:solidFill>
              <a:srgbClr val="E8EEF7"/>
            </a:solidFill>
            <a:prstDash val="solid"/>
          </a:ln>
          <a:effectLst>
            <a:outerShdw sx="100000" sy="100000" kx="0" ky="0" algn="bl" rotWithShape="0" blurRad="101600" dist="38100" dir="8100000">
              <a:srgbClr val="000000">
                <a:alpha val="18000"/>
              </a:srgbClr>
            </a:outerShdw>
          </a:effectLst>
        </p:spPr>
      </p:sp>
      <p:sp>
        <p:nvSpPr>
          <p:cNvPr id="5" name="Shape 3"/>
          <p:cNvSpPr/>
          <p:nvPr/>
        </p:nvSpPr>
        <p:spPr>
          <a:xfrm>
            <a:off x="274320" y="960120"/>
            <a:ext cx="54864" cy="3749040"/>
          </a:xfrm>
          <a:prstGeom prst="rect">
            <a:avLst/>
          </a:prstGeom>
          <a:solidFill>
            <a:srgbClr val="02C39A"/>
          </a:solidFill>
          <a:ln w="12700">
            <a:solidFill>
              <a:srgbClr val="02C39A"/>
            </a:solidFill>
            <a:prstDash val="solid"/>
          </a:ln>
        </p:spPr>
      </p:sp>
      <p:pic>
        <p:nvPicPr>
          <p:cNvPr id="6" name="Image 0" descr="preencoded.png">    </p:cNvPr>
          <p:cNvPicPr>
            <a:picLocks noChangeAspect="1"/>
          </p:cNvPicPr>
          <p:nvPr/>
        </p:nvPicPr>
        <p:blipFill>
          <a:blip r:embed="rId1"/>
          <a:stretch>
            <a:fillRect/>
          </a:stretch>
        </p:blipFill>
        <p:spPr>
          <a:xfrm>
            <a:off x="384048" y="1115568"/>
            <a:ext cx="292608" cy="292608"/>
          </a:xfrm>
          <a:prstGeom prst="rect">
            <a:avLst/>
          </a:prstGeom>
        </p:spPr>
      </p:pic>
      <p:sp>
        <p:nvSpPr>
          <p:cNvPr id="7" name="Text 4"/>
          <p:cNvSpPr/>
          <p:nvPr/>
        </p:nvSpPr>
        <p:spPr>
          <a:xfrm>
            <a:off x="777240" y="1078992"/>
            <a:ext cx="3520440" cy="365760"/>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GitHub repo named correctly &amp; accessible to instructor</a:t>
            </a:r>
            <a:endParaRPr lang="en-US" sz="1100" dirty="0"/>
          </a:p>
        </p:txBody>
      </p:sp>
      <p:pic>
        <p:nvPicPr>
          <p:cNvPr id="8" name="Image 1" descr="preencoded.png">    </p:cNvPr>
          <p:cNvPicPr>
            <a:picLocks noChangeAspect="1"/>
          </p:cNvPicPr>
          <p:nvPr/>
        </p:nvPicPr>
        <p:blipFill>
          <a:blip r:embed="rId2"/>
          <a:stretch>
            <a:fillRect/>
          </a:stretch>
        </p:blipFill>
        <p:spPr>
          <a:xfrm>
            <a:off x="384048" y="1709928"/>
            <a:ext cx="292608" cy="292608"/>
          </a:xfrm>
          <a:prstGeom prst="rect">
            <a:avLst/>
          </a:prstGeom>
        </p:spPr>
      </p:pic>
      <p:sp>
        <p:nvSpPr>
          <p:cNvPr id="9" name="Text 5"/>
          <p:cNvSpPr/>
          <p:nvPr/>
        </p:nvSpPr>
        <p:spPr>
          <a:xfrm>
            <a:off x="777240" y="1673352"/>
            <a:ext cx="3520440" cy="365760"/>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README.md complete with all required sections</a:t>
            </a:r>
            <a:endParaRPr lang="en-US" sz="1100" dirty="0"/>
          </a:p>
        </p:txBody>
      </p:sp>
      <p:pic>
        <p:nvPicPr>
          <p:cNvPr id="10" name="Image 2" descr="preencoded.png">    </p:cNvPr>
          <p:cNvPicPr>
            <a:picLocks noChangeAspect="1"/>
          </p:cNvPicPr>
          <p:nvPr/>
        </p:nvPicPr>
        <p:blipFill>
          <a:blip r:embed="rId3"/>
          <a:stretch>
            <a:fillRect/>
          </a:stretch>
        </p:blipFill>
        <p:spPr>
          <a:xfrm>
            <a:off x="384048" y="2304288"/>
            <a:ext cx="292608" cy="292608"/>
          </a:xfrm>
          <a:prstGeom prst="rect">
            <a:avLst/>
          </a:prstGeom>
        </p:spPr>
      </p:pic>
      <p:sp>
        <p:nvSpPr>
          <p:cNvPr id="11" name="Text 6"/>
          <p:cNvSpPr/>
          <p:nvPr/>
        </p:nvSpPr>
        <p:spPr>
          <a:xfrm>
            <a:off x="777240" y="2267712"/>
            <a:ext cx="3520440" cy="365760"/>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C code compiles with zero warnings; Makefile has all targets</a:t>
            </a:r>
            <a:endParaRPr lang="en-US" sz="1100" dirty="0"/>
          </a:p>
        </p:txBody>
      </p:sp>
      <p:pic>
        <p:nvPicPr>
          <p:cNvPr id="12" name="Image 3" descr="preencoded.png">    </p:cNvPr>
          <p:cNvPicPr>
            <a:picLocks noChangeAspect="1"/>
          </p:cNvPicPr>
          <p:nvPr/>
        </p:nvPicPr>
        <p:blipFill>
          <a:blip r:embed="rId4"/>
          <a:stretch>
            <a:fillRect/>
          </a:stretch>
        </p:blipFill>
        <p:spPr>
          <a:xfrm>
            <a:off x="384048" y="2898648"/>
            <a:ext cx="292608" cy="292608"/>
          </a:xfrm>
          <a:prstGeom prst="rect">
            <a:avLst/>
          </a:prstGeom>
        </p:spPr>
      </p:pic>
      <p:sp>
        <p:nvSpPr>
          <p:cNvPr id="13" name="Text 7"/>
          <p:cNvSpPr/>
          <p:nvPr/>
        </p:nvSpPr>
        <p:spPr>
          <a:xfrm>
            <a:off x="777240" y="2862072"/>
            <a:ext cx="3520440" cy="365760"/>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Valgrind summary (0 errors from 0 contexts) in README</a:t>
            </a:r>
            <a:endParaRPr lang="en-US" sz="1100" dirty="0"/>
          </a:p>
        </p:txBody>
      </p:sp>
      <p:pic>
        <p:nvPicPr>
          <p:cNvPr id="14" name="Image 4" descr="preencoded.png">    </p:cNvPr>
          <p:cNvPicPr>
            <a:picLocks noChangeAspect="1"/>
          </p:cNvPicPr>
          <p:nvPr/>
        </p:nvPicPr>
        <p:blipFill>
          <a:blip r:embed="rId5"/>
          <a:stretch>
            <a:fillRect/>
          </a:stretch>
        </p:blipFill>
        <p:spPr>
          <a:xfrm>
            <a:off x="384048" y="3493008"/>
            <a:ext cx="292608" cy="292608"/>
          </a:xfrm>
          <a:prstGeom prst="rect">
            <a:avLst/>
          </a:prstGeom>
        </p:spPr>
      </p:pic>
      <p:sp>
        <p:nvSpPr>
          <p:cNvPr id="15" name="Text 8"/>
          <p:cNvSpPr/>
          <p:nvPr/>
        </p:nvSpPr>
        <p:spPr>
          <a:xfrm>
            <a:off x="777240" y="3456432"/>
            <a:ext cx="3520440" cy="365760"/>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make race vs make fixed documented with output</a:t>
            </a:r>
            <a:endParaRPr lang="en-US" sz="1100" dirty="0"/>
          </a:p>
        </p:txBody>
      </p:sp>
      <p:pic>
        <p:nvPicPr>
          <p:cNvPr id="16" name="Image 5" descr="preencoded.png">    </p:cNvPr>
          <p:cNvPicPr>
            <a:picLocks noChangeAspect="1"/>
          </p:cNvPicPr>
          <p:nvPr/>
        </p:nvPicPr>
        <p:blipFill>
          <a:blip r:embed="rId6"/>
          <a:stretch>
            <a:fillRect/>
          </a:stretch>
        </p:blipFill>
        <p:spPr>
          <a:xfrm>
            <a:off x="384048" y="4087368"/>
            <a:ext cx="292608" cy="292608"/>
          </a:xfrm>
          <a:prstGeom prst="rect">
            <a:avLst/>
          </a:prstGeom>
        </p:spPr>
      </p:pic>
      <p:sp>
        <p:nvSpPr>
          <p:cNvPr id="17" name="Text 9"/>
          <p:cNvSpPr/>
          <p:nvPr/>
        </p:nvSpPr>
        <p:spPr>
          <a:xfrm>
            <a:off x="777240" y="4050792"/>
            <a:ext cx="3520440" cy="365760"/>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All 4 scheduling algorithms implemented and tested</a:t>
            </a:r>
            <a:endParaRPr lang="en-US" sz="1100" dirty="0"/>
          </a:p>
        </p:txBody>
      </p:sp>
      <p:sp>
        <p:nvSpPr>
          <p:cNvPr id="18" name="Shape 10"/>
          <p:cNvSpPr/>
          <p:nvPr/>
        </p:nvSpPr>
        <p:spPr>
          <a:xfrm>
            <a:off x="4754880" y="960120"/>
            <a:ext cx="4114800" cy="3749040"/>
          </a:xfrm>
          <a:prstGeom prst="rect">
            <a:avLst/>
          </a:prstGeom>
          <a:solidFill>
            <a:srgbClr val="FFFFFF"/>
          </a:solidFill>
          <a:ln w="12700">
            <a:solidFill>
              <a:srgbClr val="E8EEF7"/>
            </a:solidFill>
            <a:prstDash val="solid"/>
          </a:ln>
          <a:effectLst>
            <a:outerShdw sx="100000" sy="100000" kx="0" ky="0" algn="bl" rotWithShape="0" blurRad="101600" dist="38100" dir="8100000">
              <a:srgbClr val="000000">
                <a:alpha val="18000"/>
              </a:srgbClr>
            </a:outerShdw>
          </a:effectLst>
        </p:spPr>
      </p:sp>
      <p:sp>
        <p:nvSpPr>
          <p:cNvPr id="19" name="Shape 11"/>
          <p:cNvSpPr/>
          <p:nvPr/>
        </p:nvSpPr>
        <p:spPr>
          <a:xfrm>
            <a:off x="4754880" y="960120"/>
            <a:ext cx="54864" cy="3749040"/>
          </a:xfrm>
          <a:prstGeom prst="rect">
            <a:avLst/>
          </a:prstGeom>
          <a:solidFill>
            <a:srgbClr val="02C39A"/>
          </a:solidFill>
          <a:ln w="12700">
            <a:solidFill>
              <a:srgbClr val="02C39A"/>
            </a:solidFill>
            <a:prstDash val="solid"/>
          </a:ln>
        </p:spPr>
      </p:sp>
      <p:pic>
        <p:nvPicPr>
          <p:cNvPr id="20" name="Image 6" descr="preencoded.png">    </p:cNvPr>
          <p:cNvPicPr>
            <a:picLocks noChangeAspect="1"/>
          </p:cNvPicPr>
          <p:nvPr/>
        </p:nvPicPr>
        <p:blipFill>
          <a:blip r:embed="rId7"/>
          <a:stretch>
            <a:fillRect/>
          </a:stretch>
        </p:blipFill>
        <p:spPr>
          <a:xfrm>
            <a:off x="4864608" y="1115568"/>
            <a:ext cx="292608" cy="292608"/>
          </a:xfrm>
          <a:prstGeom prst="rect">
            <a:avLst/>
          </a:prstGeom>
        </p:spPr>
      </p:pic>
      <p:sp>
        <p:nvSpPr>
          <p:cNvPr id="21" name="Text 12"/>
          <p:cNvSpPr/>
          <p:nvPr/>
        </p:nvSpPr>
        <p:spPr>
          <a:xfrm>
            <a:off x="5257800" y="1078992"/>
            <a:ext cx="3520440" cy="365760"/>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Gantt charts + comparison charts saved as .png in docs/screenshots/</a:t>
            </a:r>
            <a:endParaRPr lang="en-US" sz="1100" dirty="0"/>
          </a:p>
        </p:txBody>
      </p:sp>
      <p:pic>
        <p:nvPicPr>
          <p:cNvPr id="22" name="Image 7" descr="preencoded.png">    </p:cNvPr>
          <p:cNvPicPr>
            <a:picLocks noChangeAspect="1"/>
          </p:cNvPicPr>
          <p:nvPr/>
        </p:nvPicPr>
        <p:blipFill>
          <a:blip r:embed="rId8"/>
          <a:stretch>
            <a:fillRect/>
          </a:stretch>
        </p:blipFill>
        <p:spPr>
          <a:xfrm>
            <a:off x="4864608" y="1709928"/>
            <a:ext cx="292608" cy="292608"/>
          </a:xfrm>
          <a:prstGeom prst="rect">
            <a:avLst/>
          </a:prstGeom>
        </p:spPr>
      </p:pic>
      <p:sp>
        <p:nvSpPr>
          <p:cNvPr id="23" name="Text 13"/>
          <p:cNvSpPr/>
          <p:nvPr/>
        </p:nvSpPr>
        <p:spPr>
          <a:xfrm>
            <a:off x="5257800" y="1673352"/>
            <a:ext cx="3520440" cy="365760"/>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main_controller.py runs end-to-end without error</a:t>
            </a:r>
            <a:endParaRPr lang="en-US" sz="1100" dirty="0"/>
          </a:p>
        </p:txBody>
      </p:sp>
      <p:pic>
        <p:nvPicPr>
          <p:cNvPr id="24" name="Image 8" descr="preencoded.png">    </p:cNvPr>
          <p:cNvPicPr>
            <a:picLocks noChangeAspect="1"/>
          </p:cNvPicPr>
          <p:nvPr/>
        </p:nvPicPr>
        <p:blipFill>
          <a:blip r:embed="rId9"/>
          <a:stretch>
            <a:fillRect/>
          </a:stretch>
        </p:blipFill>
        <p:spPr>
          <a:xfrm>
            <a:off x="4864608" y="2304288"/>
            <a:ext cx="292608" cy="292608"/>
          </a:xfrm>
          <a:prstGeom prst="rect">
            <a:avLst/>
          </a:prstGeom>
        </p:spPr>
      </p:pic>
      <p:sp>
        <p:nvSpPr>
          <p:cNvPr id="25" name="Text 14"/>
          <p:cNvSpPr/>
          <p:nvPr/>
        </p:nvSpPr>
        <p:spPr>
          <a:xfrm>
            <a:off x="5257800" y="2267712"/>
            <a:ext cx="3520440" cy="365760"/>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report.pdf uploaded to docs/ and linked in README</a:t>
            </a:r>
            <a:endParaRPr lang="en-US" sz="1100" dirty="0"/>
          </a:p>
        </p:txBody>
      </p:sp>
      <p:pic>
        <p:nvPicPr>
          <p:cNvPr id="26" name="Image 9" descr="preencoded.png">    </p:cNvPr>
          <p:cNvPicPr>
            <a:picLocks noChangeAspect="1"/>
          </p:cNvPicPr>
          <p:nvPr/>
        </p:nvPicPr>
        <p:blipFill>
          <a:blip r:embed="rId10"/>
          <a:stretch>
            <a:fillRect/>
          </a:stretch>
        </p:blipFill>
        <p:spPr>
          <a:xfrm>
            <a:off x="4864608" y="2898648"/>
            <a:ext cx="292608" cy="292608"/>
          </a:xfrm>
          <a:prstGeom prst="rect">
            <a:avLst/>
          </a:prstGeom>
        </p:spPr>
      </p:pic>
      <p:sp>
        <p:nvSpPr>
          <p:cNvPr id="27" name="Text 15"/>
          <p:cNvSpPr/>
          <p:nvPr/>
        </p:nvSpPr>
        <p:spPr>
          <a:xfrm>
            <a:off x="5257800" y="2862072"/>
            <a:ext cx="3520440" cy="365760"/>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At least 10 commits with meaningful messages</a:t>
            </a:r>
            <a:endParaRPr lang="en-US" sz="1100" dirty="0"/>
          </a:p>
        </p:txBody>
      </p:sp>
      <p:pic>
        <p:nvPicPr>
          <p:cNvPr id="28" name="Image 10" descr="preencoded.png">    </p:cNvPr>
          <p:cNvPicPr>
            <a:picLocks noChangeAspect="1"/>
          </p:cNvPicPr>
          <p:nvPr/>
        </p:nvPicPr>
        <p:blipFill>
          <a:blip r:embed="rId11"/>
          <a:stretch>
            <a:fillRect/>
          </a:stretch>
        </p:blipFill>
        <p:spPr>
          <a:xfrm>
            <a:off x="4864608" y="3493008"/>
            <a:ext cx="292608" cy="292608"/>
          </a:xfrm>
          <a:prstGeom prst="rect">
            <a:avLst/>
          </a:prstGeom>
        </p:spPr>
      </p:pic>
      <p:sp>
        <p:nvSpPr>
          <p:cNvPr id="29" name="Text 16"/>
          <p:cNvSpPr/>
          <p:nvPr/>
        </p:nvSpPr>
        <p:spPr>
          <a:xfrm>
            <a:off x="5257800" y="3456432"/>
            <a:ext cx="3520440" cy="365760"/>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requirements.txt present in python_scheduler/</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B4B"/>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28090"/>
          </a:solidFill>
          <a:ln w="12700">
            <a:solidFill>
              <a:srgbClr val="028090"/>
            </a:solidFill>
            <a:prstDash val="solid"/>
          </a:ln>
        </p:spPr>
      </p:sp>
      <p:sp>
        <p:nvSpPr>
          <p:cNvPr id="3" name="Shape 1"/>
          <p:cNvSpPr/>
          <p:nvPr/>
        </p:nvSpPr>
        <p:spPr>
          <a:xfrm>
            <a:off x="0" y="4942332"/>
            <a:ext cx="9144000" cy="201168"/>
          </a:xfrm>
          <a:prstGeom prst="rect">
            <a:avLst/>
          </a:prstGeom>
          <a:solidFill>
            <a:srgbClr val="028090"/>
          </a:solidFill>
          <a:ln w="12700">
            <a:solidFill>
              <a:srgbClr val="028090"/>
            </a:solidFill>
            <a:prstDash val="solid"/>
          </a:ln>
        </p:spPr>
      </p:sp>
      <p:pic>
        <p:nvPicPr>
          <p:cNvPr id="4" name="Image 0" descr="preencoded.png">    </p:cNvPr>
          <p:cNvPicPr>
            <a:picLocks noChangeAspect="1"/>
          </p:cNvPicPr>
          <p:nvPr/>
        </p:nvPicPr>
        <p:blipFill>
          <a:blip r:embed="rId1"/>
          <a:stretch>
            <a:fillRect/>
          </a:stretch>
        </p:blipFill>
        <p:spPr>
          <a:xfrm>
            <a:off x="4114800" y="411480"/>
            <a:ext cx="914400" cy="914400"/>
          </a:xfrm>
          <a:prstGeom prst="rect">
            <a:avLst/>
          </a:prstGeom>
        </p:spPr>
      </p:pic>
      <p:sp>
        <p:nvSpPr>
          <p:cNvPr id="5" name="Text 2"/>
          <p:cNvSpPr/>
          <p:nvPr/>
        </p:nvSpPr>
        <p:spPr>
          <a:xfrm>
            <a:off x="457200" y="1371600"/>
            <a:ext cx="8229600" cy="777240"/>
          </a:xfrm>
          <a:prstGeom prst="rect">
            <a:avLst/>
          </a:prstGeom>
          <a:noFill/>
          <a:ln/>
        </p:spPr>
        <p:txBody>
          <a:bodyPr wrap="square" rtlCol="0" anchor="ctr"/>
          <a:lstStyle/>
          <a:p>
            <a:pPr algn="ctr" indent="0" marL="0">
              <a:buNone/>
            </a:pPr>
            <a:r>
              <a:rPr lang="en-US" sz="3800" b="1" dirty="0">
                <a:solidFill>
                  <a:srgbClr val="CADCFC"/>
                </a:solidFill>
                <a:latin typeface="Calibri" pitchFamily="34" charset="0"/>
                <a:ea typeface="Calibri" pitchFamily="34" charset="-122"/>
                <a:cs typeface="Calibri" pitchFamily="34" charset="-120"/>
              </a:rPr>
              <a:t>EduOS — Complete</a:t>
            </a:r>
            <a:endParaRPr lang="en-US" sz="3800" dirty="0"/>
          </a:p>
        </p:txBody>
      </p:sp>
      <p:sp>
        <p:nvSpPr>
          <p:cNvPr id="6" name="Shape 3"/>
          <p:cNvSpPr/>
          <p:nvPr/>
        </p:nvSpPr>
        <p:spPr>
          <a:xfrm>
            <a:off x="548640" y="2331720"/>
            <a:ext cx="1828800" cy="1280160"/>
          </a:xfrm>
          <a:prstGeom prst="rect">
            <a:avLst/>
          </a:prstGeom>
          <a:solidFill>
            <a:srgbClr val="028090">
              <a:alpha val="75000"/>
            </a:srgbClr>
          </a:solidFill>
          <a:ln w="12700">
            <a:solidFill>
              <a:srgbClr val="02C39A"/>
            </a:solidFill>
            <a:prstDash val="solid"/>
          </a:ln>
        </p:spPr>
      </p:sp>
      <p:sp>
        <p:nvSpPr>
          <p:cNvPr id="7" name="Text 4"/>
          <p:cNvSpPr/>
          <p:nvPr/>
        </p:nvSpPr>
        <p:spPr>
          <a:xfrm>
            <a:off x="548640" y="2423160"/>
            <a:ext cx="1828800" cy="5029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Process Mgr</a:t>
            </a:r>
            <a:endParaRPr lang="en-US" sz="1300" dirty="0"/>
          </a:p>
        </p:txBody>
      </p:sp>
      <p:sp>
        <p:nvSpPr>
          <p:cNvPr id="8" name="Text 5"/>
          <p:cNvSpPr/>
          <p:nvPr/>
        </p:nvSpPr>
        <p:spPr>
          <a:xfrm>
            <a:off x="548640" y="2944368"/>
            <a:ext cx="1828800" cy="502920"/>
          </a:xfrm>
          <a:prstGeom prst="rect">
            <a:avLst/>
          </a:prstGeom>
          <a:noFill/>
          <a:ln/>
        </p:spPr>
        <p:txBody>
          <a:bodyPr wrap="square" rtlCol="0" anchor="ctr"/>
          <a:lstStyle/>
          <a:p>
            <a:pPr algn="ctr" indent="0" marL="0">
              <a:buNone/>
            </a:pPr>
            <a:r>
              <a:rPr lang="en-US" sz="1000" i="1" dirty="0">
                <a:solidFill>
                  <a:srgbClr val="CADCFC"/>
                </a:solidFill>
                <a:latin typeface="Calibri" pitchFamily="34" charset="0"/>
                <a:ea typeface="Calibri" pitchFamily="34" charset="-122"/>
                <a:cs typeface="Calibri" pitchFamily="34" charset="-120"/>
              </a:rPr>
              <a:t>fork·exec·wait·exit</a:t>
            </a:r>
            <a:endParaRPr lang="en-US" sz="1000" dirty="0"/>
          </a:p>
        </p:txBody>
      </p:sp>
      <p:sp>
        <p:nvSpPr>
          <p:cNvPr id="9" name="Shape 6"/>
          <p:cNvSpPr/>
          <p:nvPr/>
        </p:nvSpPr>
        <p:spPr>
          <a:xfrm>
            <a:off x="2606040" y="2331720"/>
            <a:ext cx="1828800" cy="1280160"/>
          </a:xfrm>
          <a:prstGeom prst="rect">
            <a:avLst/>
          </a:prstGeom>
          <a:solidFill>
            <a:srgbClr val="028090">
              <a:alpha val="75000"/>
            </a:srgbClr>
          </a:solidFill>
          <a:ln w="12700">
            <a:solidFill>
              <a:srgbClr val="02C39A"/>
            </a:solidFill>
            <a:prstDash val="solid"/>
          </a:ln>
        </p:spPr>
      </p:sp>
      <p:sp>
        <p:nvSpPr>
          <p:cNvPr id="10" name="Text 7"/>
          <p:cNvSpPr/>
          <p:nvPr/>
        </p:nvSpPr>
        <p:spPr>
          <a:xfrm>
            <a:off x="2606040" y="2423160"/>
            <a:ext cx="1828800" cy="5029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Thread Pool</a:t>
            </a:r>
            <a:endParaRPr lang="en-US" sz="1300" dirty="0"/>
          </a:p>
        </p:txBody>
      </p:sp>
      <p:sp>
        <p:nvSpPr>
          <p:cNvPr id="11" name="Text 8"/>
          <p:cNvSpPr/>
          <p:nvPr/>
        </p:nvSpPr>
        <p:spPr>
          <a:xfrm>
            <a:off x="2606040" y="2944368"/>
            <a:ext cx="1828800" cy="502920"/>
          </a:xfrm>
          <a:prstGeom prst="rect">
            <a:avLst/>
          </a:prstGeom>
          <a:noFill/>
          <a:ln/>
        </p:spPr>
        <p:txBody>
          <a:bodyPr wrap="square" rtlCol="0" anchor="ctr"/>
          <a:lstStyle/>
          <a:p>
            <a:pPr algn="ctr" indent="0" marL="0">
              <a:buNone/>
            </a:pPr>
            <a:r>
              <a:rPr lang="en-US" sz="1000" i="1" dirty="0">
                <a:solidFill>
                  <a:srgbClr val="CADCFC"/>
                </a:solidFill>
                <a:latin typeface="Calibri" pitchFamily="34" charset="0"/>
                <a:ea typeface="Calibri" pitchFamily="34" charset="-122"/>
                <a:cs typeface="Calibri" pitchFamily="34" charset="-120"/>
              </a:rPr>
              <a:t>mutex·condvar·race</a:t>
            </a:r>
            <a:endParaRPr lang="en-US" sz="1000" dirty="0"/>
          </a:p>
        </p:txBody>
      </p:sp>
      <p:sp>
        <p:nvSpPr>
          <p:cNvPr id="12" name="Shape 9"/>
          <p:cNvSpPr/>
          <p:nvPr/>
        </p:nvSpPr>
        <p:spPr>
          <a:xfrm>
            <a:off x="4663440" y="2331720"/>
            <a:ext cx="1828800" cy="1280160"/>
          </a:xfrm>
          <a:prstGeom prst="rect">
            <a:avLst/>
          </a:prstGeom>
          <a:solidFill>
            <a:srgbClr val="028090">
              <a:alpha val="75000"/>
            </a:srgbClr>
          </a:solidFill>
          <a:ln w="12700">
            <a:solidFill>
              <a:srgbClr val="02C39A"/>
            </a:solidFill>
            <a:prstDash val="solid"/>
          </a:ln>
        </p:spPr>
      </p:sp>
      <p:sp>
        <p:nvSpPr>
          <p:cNvPr id="13" name="Text 10"/>
          <p:cNvSpPr/>
          <p:nvPr/>
        </p:nvSpPr>
        <p:spPr>
          <a:xfrm>
            <a:off x="4663440" y="2423160"/>
            <a:ext cx="1828800" cy="5029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IPC</a:t>
            </a:r>
            <a:endParaRPr lang="en-US" sz="1300" dirty="0"/>
          </a:p>
        </p:txBody>
      </p:sp>
      <p:sp>
        <p:nvSpPr>
          <p:cNvPr id="14" name="Text 11"/>
          <p:cNvSpPr/>
          <p:nvPr/>
        </p:nvSpPr>
        <p:spPr>
          <a:xfrm>
            <a:off x="4663440" y="2944368"/>
            <a:ext cx="1828800" cy="502920"/>
          </a:xfrm>
          <a:prstGeom prst="rect">
            <a:avLst/>
          </a:prstGeom>
          <a:noFill/>
          <a:ln/>
        </p:spPr>
        <p:txBody>
          <a:bodyPr wrap="square" rtlCol="0" anchor="ctr"/>
          <a:lstStyle/>
          <a:p>
            <a:pPr algn="ctr" indent="0" marL="0">
              <a:buNone/>
            </a:pPr>
            <a:r>
              <a:rPr lang="en-US" sz="1000" i="1" dirty="0">
                <a:solidFill>
                  <a:srgbClr val="CADCFC"/>
                </a:solidFill>
                <a:latin typeface="Calibri" pitchFamily="34" charset="0"/>
                <a:ea typeface="Calibri" pitchFamily="34" charset="-122"/>
                <a:cs typeface="Calibri" pitchFamily="34" charset="-120"/>
              </a:rPr>
              <a:t>SHM·pipes·access ctrl</a:t>
            </a:r>
            <a:endParaRPr lang="en-US" sz="1000" dirty="0"/>
          </a:p>
        </p:txBody>
      </p:sp>
      <p:sp>
        <p:nvSpPr>
          <p:cNvPr id="15" name="Shape 12"/>
          <p:cNvSpPr/>
          <p:nvPr/>
        </p:nvSpPr>
        <p:spPr>
          <a:xfrm>
            <a:off x="6720840" y="2331720"/>
            <a:ext cx="1828800" cy="1280160"/>
          </a:xfrm>
          <a:prstGeom prst="rect">
            <a:avLst/>
          </a:prstGeom>
          <a:solidFill>
            <a:srgbClr val="028090">
              <a:alpha val="75000"/>
            </a:srgbClr>
          </a:solidFill>
          <a:ln w="12700">
            <a:solidFill>
              <a:srgbClr val="02C39A"/>
            </a:solidFill>
            <a:prstDash val="solid"/>
          </a:ln>
        </p:spPr>
      </p:sp>
      <p:sp>
        <p:nvSpPr>
          <p:cNvPr id="16" name="Text 13"/>
          <p:cNvSpPr/>
          <p:nvPr/>
        </p:nvSpPr>
        <p:spPr>
          <a:xfrm>
            <a:off x="6720840" y="2423160"/>
            <a:ext cx="1828800" cy="5029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Scheduler</a:t>
            </a:r>
            <a:endParaRPr lang="en-US" sz="1300" dirty="0"/>
          </a:p>
        </p:txBody>
      </p:sp>
      <p:sp>
        <p:nvSpPr>
          <p:cNvPr id="17" name="Text 14"/>
          <p:cNvSpPr/>
          <p:nvPr/>
        </p:nvSpPr>
        <p:spPr>
          <a:xfrm>
            <a:off x="6720840" y="2944368"/>
            <a:ext cx="1828800" cy="502920"/>
          </a:xfrm>
          <a:prstGeom prst="rect">
            <a:avLst/>
          </a:prstGeom>
          <a:noFill/>
          <a:ln/>
        </p:spPr>
        <p:txBody>
          <a:bodyPr wrap="square" rtlCol="0" anchor="ctr"/>
          <a:lstStyle/>
          <a:p>
            <a:pPr algn="ctr" indent="0" marL="0">
              <a:buNone/>
            </a:pPr>
            <a:r>
              <a:rPr lang="en-US" sz="1000" i="1" dirty="0">
                <a:solidFill>
                  <a:srgbClr val="CADCFC"/>
                </a:solidFill>
                <a:latin typeface="Calibri" pitchFamily="34" charset="0"/>
                <a:ea typeface="Calibri" pitchFamily="34" charset="-122"/>
                <a:cs typeface="Calibri" pitchFamily="34" charset="-120"/>
              </a:rPr>
              <a:t>FCFS·SJF·Pri·RR</a:t>
            </a:r>
            <a:endParaRPr lang="en-US" sz="1000" dirty="0"/>
          </a:p>
        </p:txBody>
      </p:sp>
      <p:sp>
        <p:nvSpPr>
          <p:cNvPr id="18" name="Text 15"/>
          <p:cNvSpPr/>
          <p:nvPr/>
        </p:nvSpPr>
        <p:spPr>
          <a:xfrm>
            <a:off x="457200" y="3840480"/>
            <a:ext cx="8229600" cy="411480"/>
          </a:xfrm>
          <a:prstGeom prst="rect">
            <a:avLst/>
          </a:prstGeom>
          <a:noFill/>
          <a:ln/>
        </p:spPr>
        <p:txBody>
          <a:bodyPr wrap="square" rtlCol="0" anchor="ctr"/>
          <a:lstStyle/>
          <a:p>
            <a:pPr algn="ctr" indent="0" marL="0">
              <a:buNone/>
            </a:pPr>
            <a:r>
              <a:rPr lang="en-US" sz="1300" i="1" dirty="0">
                <a:solidFill>
                  <a:srgbClr val="FFFFFF"/>
                </a:solidFill>
                <a:latin typeface="Calibri" pitchFamily="34" charset="0"/>
                <a:ea typeface="Calibri" pitchFamily="34" charset="-122"/>
                <a:cs typeface="Calibri" pitchFamily="34" charset="-120"/>
              </a:rPr>
              <a:t>Two languages. One simulator. Every OS concept mapped to working code.</a:t>
            </a:r>
            <a:endParaRPr lang="en-US" sz="1300" dirty="0"/>
          </a:p>
        </p:txBody>
      </p:sp>
      <p:sp>
        <p:nvSpPr>
          <p:cNvPr id="19" name="Text 16"/>
          <p:cNvSpPr/>
          <p:nvPr/>
        </p:nvSpPr>
        <p:spPr>
          <a:xfrm>
            <a:off x="457200" y="4594860"/>
            <a:ext cx="8229600" cy="320040"/>
          </a:xfrm>
          <a:prstGeom prst="rect">
            <a:avLst/>
          </a:prstGeom>
          <a:noFill/>
          <a:ln/>
        </p:spPr>
        <p:txBody>
          <a:bodyPr wrap="square"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Module 351 CS 2104  ·  Department of CS &amp; IT</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EduOS — Operating Systems Simulator</dc:title>
  <dc:subject>PptxGenJS Presentation</dc:subject>
  <dc:creator>EduOS Student</dc:creator>
  <cp:lastModifiedBy>EduOS Student</cp:lastModifiedBy>
  <cp:revision>1</cp:revision>
  <dcterms:created xsi:type="dcterms:W3CDTF">2026-05-27T19:52:40Z</dcterms:created>
  <dcterms:modified xsi:type="dcterms:W3CDTF">2026-05-27T19:52:40Z</dcterms:modified>
</cp:coreProperties>
</file>